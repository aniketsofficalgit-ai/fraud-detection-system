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c0957c32-2424-2d55-8d97-eb1998f4cdf8}">
          <p14:sldIdLst>
            <p14:sldId id="256"/>
            <p14:sldId id="257"/>
          </p14:sldIdLst>
        </p14:section>
        <p14:section name="Method" id="{f74dbe28-818b-1e72-76d2-149eaf853a2d}">
          <p14:sldIdLst>
            <p14:sldId id="258"/>
            <p14:sldId id="259"/>
          </p14:sldIdLst>
        </p14:section>
        <p14:section name="Results" id="{b07fd1e3-04c3-2d69-b352-39a00d12d0ac}">
          <p14:sldIdLst>
            <p14:sldId id="260"/>
            <p14:sldId id="261"/>
          </p14:sldIdLst>
        </p14:section>
        <p14:section name="Wrap-up" id="{7c39a21e-a1d3-375c-71c8-095c42aa60aa}">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Ask the hook question, pause, then introduce yourselves. 'Hello everyone! Today we are excited to present our Fraud Detection System for online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Fraud is rare, so it hides in millions of normal payments. Anyone who pays online can be a victim, and banks lose money and trust. We need to catch it in seconds, not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You enter six details about a transaction. We validate them, a Random Forest model scores the risk, and the result is saved and shown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ARE DIFFERENT. Many tools only say yes or no. We give a risk score, a level and a recommendation, and we judge our model with precision and recall because fraud is 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COMPETITORS. We compare approaches rather than brands. Manual review is slow, fixed rules are fast but rigid, and generic ML tools can be heavy. Our idea is fast, learns patterns and is simple to explain. This is a qualitative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On unseen data, precision is 0.93 and recall is 0.80. Cross-validation gives F1 0.88 with very small variation. Only 10 of 3,841 legitimate transactions were flagged. The dataset is synthetic, which we state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OPPORTUNITY. Customers, banks and fintech teams all benefit from faster, clearer fraud checks. The impact is fewer losses and more trust. We can grow by testing on real data and adding more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This is a proposal, not a validated plan. The system could be offered as an API, a dashboard subscription, and integration support, with partners such as payment platforms and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ASK. We are asking for mentorship, access to an anonymised real dataset, and a test environment, so we can validate the model on real patterns and move toward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POWERFUL ENDING. Say the closing line slowly, thank the audience, smile and keep eye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AF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66928"/>
            <a:ext cx="10908792" cy="91440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7589520" y="822960"/>
            <a:ext cx="4206240" cy="4206240"/>
          </a:xfrm>
          <a:prstGeom prst="ellipse">
            <a:avLst/>
          </a:prstGeom>
          <a:solidFill>
            <a:schemeClr val="accent2"/>
          </a:solidFill>
          <a:ln w="19050">
            <a:solidFill>
              <a:srgbClr val="BFE3E3"/>
            </a:solidFill>
            <a:prstDash val="dash"/>
          </a:ln>
        </p:spPr>
      </p:sp>
      <p:sp>
        <p:nvSpPr>
          <p:cNvPr id="4" name="Shape 1"/>
          <p:cNvSpPr/>
          <p:nvPr/>
        </p:nvSpPr>
        <p:spPr>
          <a:xfrm>
            <a:off x="8275320" y="914400"/>
            <a:ext cx="2377440" cy="4873752"/>
          </a:xfrm>
          <a:prstGeom prst="roundRect">
            <a:avLst>
              <a:gd name="adj" fmla="val 6154"/>
            </a:avLst>
          </a:prstGeom>
          <a:solidFill>
            <a:schemeClr val="tx2"/>
          </a:solidFill>
          <a:ln w="12700">
            <a:solidFill>
              <a:schemeClr val="tx2"/>
            </a:solidFill>
            <a:prstDash val="solid"/>
          </a:ln>
          <a:effectLst>
            <a:outerShdw sx="100000" sy="100000" kx="0" ky="0" algn="bl" rotWithShape="0" blurRad="152400" dist="25400" dir="5400000">
              <a:srgbClr val="0B3B73">
                <a:alpha val="10000"/>
              </a:srgbClr>
            </a:outerShdw>
          </a:effectLst>
        </p:spPr>
      </p:sp>
      <p:sp>
        <p:nvSpPr>
          <p:cNvPr id="5" name="Shape 2"/>
          <p:cNvSpPr/>
          <p:nvPr/>
        </p:nvSpPr>
        <p:spPr>
          <a:xfrm>
            <a:off x="8362910" y="1001990"/>
            <a:ext cx="2202260" cy="4698572"/>
          </a:xfrm>
          <a:prstGeom prst="roundRect">
            <a:avLst>
              <a:gd name="adj" fmla="val 12500"/>
            </a:avLst>
          </a:prstGeom>
          <a:solidFill>
            <a:srgbClr val="FFFFFF"/>
          </a:solidFill>
          <a:ln w="6350">
            <a:solidFill>
              <a:srgbClr val="FFFFFF"/>
            </a:solidFill>
            <a:prstDash val="solid"/>
          </a:ln>
        </p:spPr>
      </p:sp>
      <p:sp>
        <p:nvSpPr>
          <p:cNvPr id="6" name="Shape 3"/>
          <p:cNvSpPr/>
          <p:nvPr/>
        </p:nvSpPr>
        <p:spPr>
          <a:xfrm>
            <a:off x="9151219" y="1077067"/>
            <a:ext cx="625642" cy="125128"/>
          </a:xfrm>
          <a:prstGeom prst="roundRect">
            <a:avLst>
              <a:gd name="adj" fmla="val 50000"/>
            </a:avLst>
          </a:prstGeom>
          <a:solidFill>
            <a:schemeClr val="tx2"/>
          </a:solidFill>
          <a:ln w="6350">
            <a:solidFill>
              <a:schemeClr val="tx2"/>
            </a:solidFill>
            <a:prstDash val="solid"/>
          </a:ln>
        </p:spPr>
      </p:sp>
      <p:sp>
        <p:nvSpPr>
          <p:cNvPr id="7" name="Text 4"/>
          <p:cNvSpPr txBox="1"/>
          <p:nvPr/>
        </p:nvSpPr>
        <p:spPr>
          <a:xfrm>
            <a:off x="8550603" y="1414914"/>
            <a:ext cx="1826875" cy="312821"/>
          </a:xfrm>
          <a:prstGeom prst="rect">
            <a:avLst/>
          </a:prstGeom>
          <a:noFill/>
          <a:ln/>
        </p:spPr>
        <p:txBody>
          <a:bodyPr wrap="square" lIns="0" tIns="0" rIns="0" bIns="0" rtlCol="0" anchor="t"/>
          <a:lstStyle/>
          <a:p>
            <a:pPr indent="0" marL="0">
              <a:buNone/>
            </a:pPr>
            <a:r>
              <a:rPr lang="en-US" sz="1400" b="1" dirty="0">
                <a:solidFill>
                  <a:schemeClr val="accent1"/>
                </a:solidFill>
              </a:rPr>
              <a:t>Transaction result</a:t>
            </a:r>
            <a:endParaRPr lang="en-US" sz="1400" dirty="0"/>
          </a:p>
        </p:txBody>
      </p:sp>
      <p:sp>
        <p:nvSpPr>
          <p:cNvPr id="8" name="Text 5"/>
          <p:cNvSpPr txBox="1"/>
          <p:nvPr/>
        </p:nvSpPr>
        <p:spPr>
          <a:xfrm>
            <a:off x="8550603" y="1915427"/>
            <a:ext cx="1826875" cy="625642"/>
          </a:xfrm>
          <a:prstGeom prst="rect">
            <a:avLst/>
          </a:prstGeom>
          <a:noFill/>
          <a:ln/>
        </p:spPr>
        <p:txBody>
          <a:bodyPr wrap="square" lIns="0" tIns="0" rIns="0" bIns="0" rtlCol="0" anchor="t"/>
          <a:lstStyle/>
          <a:p>
            <a:pPr indent="0" marL="0">
              <a:buNone/>
            </a:pPr>
            <a:r>
              <a:rPr lang="en-US" sz="3600" b="1" dirty="0">
                <a:solidFill>
                  <a:srgbClr val="B42318"/>
                </a:solidFill>
                <a:latin typeface="JetBrains Mono" pitchFamily="34" charset="0"/>
                <a:ea typeface="JetBrains Mono" pitchFamily="34" charset="-122"/>
                <a:cs typeface="JetBrains Mono" pitchFamily="34" charset="-120"/>
              </a:rPr>
              <a:t>0.91</a:t>
            </a:r>
            <a:endParaRPr lang="en-US" sz="3600" dirty="0"/>
          </a:p>
        </p:txBody>
      </p:sp>
      <p:sp>
        <p:nvSpPr>
          <p:cNvPr id="9" name="Shape 6"/>
          <p:cNvSpPr/>
          <p:nvPr/>
        </p:nvSpPr>
        <p:spPr>
          <a:xfrm>
            <a:off x="8550603" y="2728762"/>
            <a:ext cx="1438977" cy="350360"/>
          </a:xfrm>
          <a:prstGeom prst="roundRect">
            <a:avLst>
              <a:gd name="adj" fmla="val 50000"/>
            </a:avLst>
          </a:prstGeom>
          <a:solidFill>
            <a:srgbClr val="FDE8E8"/>
          </a:solidFill>
          <a:ln w="6350">
            <a:solidFill>
              <a:srgbClr val="FDE8E8"/>
            </a:solidFill>
            <a:prstDash val="solid"/>
          </a:ln>
        </p:spPr>
      </p:sp>
      <p:sp>
        <p:nvSpPr>
          <p:cNvPr id="10" name="Text 7"/>
          <p:cNvSpPr txBox="1"/>
          <p:nvPr/>
        </p:nvSpPr>
        <p:spPr>
          <a:xfrm>
            <a:off x="8550603" y="2728762"/>
            <a:ext cx="1438977" cy="350360"/>
          </a:xfrm>
          <a:prstGeom prst="rect">
            <a:avLst/>
          </a:prstGeom>
          <a:noFill/>
          <a:ln/>
        </p:spPr>
        <p:txBody>
          <a:bodyPr wrap="square" lIns="0" tIns="0" rIns="0" bIns="0" rtlCol="0" anchor="ctr"/>
          <a:lstStyle/>
          <a:p>
            <a:pPr algn="ctr" indent="0" marL="0">
              <a:buNone/>
            </a:pPr>
            <a:r>
              <a:rPr lang="en-US" sz="1400" b="1" dirty="0">
                <a:solidFill>
                  <a:srgbClr val="B42318"/>
                </a:solidFill>
              </a:rPr>
              <a:t>HIGH RISK</a:t>
            </a:r>
            <a:endParaRPr lang="en-US" sz="1400" dirty="0"/>
          </a:p>
        </p:txBody>
      </p:sp>
      <p:sp>
        <p:nvSpPr>
          <p:cNvPr id="11" name="Shape 8"/>
          <p:cNvSpPr/>
          <p:nvPr/>
        </p:nvSpPr>
        <p:spPr>
          <a:xfrm>
            <a:off x="8550603" y="3354404"/>
            <a:ext cx="1826875" cy="150154"/>
          </a:xfrm>
          <a:prstGeom prst="roundRect">
            <a:avLst>
              <a:gd name="adj" fmla="val 50000"/>
            </a:avLst>
          </a:prstGeom>
          <a:solidFill>
            <a:srgbClr val="E3EAF5"/>
          </a:solidFill>
          <a:ln w="6350">
            <a:solidFill>
              <a:srgbClr val="E3EAF5"/>
            </a:solidFill>
            <a:prstDash val="solid"/>
          </a:ln>
        </p:spPr>
      </p:sp>
      <p:sp>
        <p:nvSpPr>
          <p:cNvPr id="12" name="Shape 9"/>
          <p:cNvSpPr/>
          <p:nvPr/>
        </p:nvSpPr>
        <p:spPr>
          <a:xfrm>
            <a:off x="8550603" y="3354404"/>
            <a:ext cx="1662456" cy="150154"/>
          </a:xfrm>
          <a:prstGeom prst="roundRect">
            <a:avLst>
              <a:gd name="adj" fmla="val 50000"/>
            </a:avLst>
          </a:prstGeom>
          <a:solidFill>
            <a:srgbClr val="EF4444"/>
          </a:solidFill>
          <a:ln w="6350">
            <a:solidFill>
              <a:srgbClr val="EF4444"/>
            </a:solidFill>
            <a:prstDash val="solid"/>
          </a:ln>
        </p:spPr>
      </p:sp>
      <p:sp>
        <p:nvSpPr>
          <p:cNvPr id="13" name="Text 10"/>
          <p:cNvSpPr txBox="1"/>
          <p:nvPr/>
        </p:nvSpPr>
        <p:spPr>
          <a:xfrm>
            <a:off x="8550603" y="3792354"/>
            <a:ext cx="1826875" cy="875899"/>
          </a:xfrm>
          <a:prstGeom prst="rect">
            <a:avLst/>
          </a:prstGeom>
          <a:noFill/>
          <a:ln/>
        </p:spPr>
        <p:txBody>
          <a:bodyPr wrap="square" lIns="0" tIns="0" rIns="0" bIns="0" rtlCol="0" anchor="t"/>
          <a:lstStyle/>
          <a:p>
            <a:pPr indent="0" marL="0">
              <a:spcAft>
                <a:spcPts val="300"/>
              </a:spcAft>
              <a:buNone/>
            </a:pPr>
            <a:r>
              <a:rPr lang="en-US" sz="1400" dirty="0">
                <a:solidFill>
                  <a:schemeClr val="accent6"/>
                </a:solidFill>
              </a:rPr>
              <a:t>₹15,000 · 2 AM</a:t>
            </a:r>
            <a:endParaRPr lang="en-US" sz="1400" dirty="0"/>
          </a:p>
          <a:p>
            <a:pPr indent="0" marL="0">
              <a:spcAft>
                <a:spcPts val="300"/>
              </a:spcAft>
              <a:buNone/>
            </a:pPr>
            <a:r>
              <a:rPr lang="en-US" sz="1400" dirty="0">
                <a:solidFill>
                  <a:schemeClr val="accent6"/>
                </a:solidFill>
              </a:rPr>
              <a:t>New device</a:t>
            </a:r>
            <a:endParaRPr lang="en-US" sz="1400" dirty="0"/>
          </a:p>
        </p:txBody>
      </p:sp>
      <p:sp>
        <p:nvSpPr>
          <p:cNvPr id="14" name="Shape 11"/>
          <p:cNvSpPr/>
          <p:nvPr/>
        </p:nvSpPr>
        <p:spPr>
          <a:xfrm>
            <a:off x="640080" y="640080"/>
            <a:ext cx="640080" cy="640080"/>
          </a:xfrm>
          <a:prstGeom prst="roundRect">
            <a:avLst>
              <a:gd name="adj" fmla="val 28000"/>
            </a:avLst>
          </a:prstGeom>
          <a:solidFill>
            <a:schemeClr val="accent1"/>
          </a:solidFill>
          <a:ln w="6350">
            <a:solidFill>
              <a:schemeClr val="accent1"/>
            </a:solidFill>
            <a:prstDash val="solid"/>
          </a:ln>
        </p:spPr>
      </p:sp>
      <p:sp>
        <p:nvSpPr>
          <p:cNvPr id="15" name="Text 12"/>
          <p:cNvSpPr txBox="1"/>
          <p:nvPr/>
        </p:nvSpPr>
        <p:spPr>
          <a:xfrm>
            <a:off x="640080" y="6400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latin typeface="JetBrains Mono" pitchFamily="34" charset="0"/>
                <a:ea typeface="JetBrains Mono" pitchFamily="34" charset="-122"/>
                <a:cs typeface="JetBrains Mono" pitchFamily="34" charset="-120"/>
              </a:rPr>
              <a:t>FD</a:t>
            </a:r>
            <a:endParaRPr lang="en-US" sz="1800" dirty="0"/>
          </a:p>
        </p:txBody>
      </p:sp>
      <p:sp>
        <p:nvSpPr>
          <p:cNvPr id="16" name="Text 13"/>
          <p:cNvSpPr txBox="1"/>
          <p:nvPr/>
        </p:nvSpPr>
        <p:spPr>
          <a:xfrm>
            <a:off x="1463040" y="731520"/>
            <a:ext cx="4572000" cy="457200"/>
          </a:xfrm>
          <a:prstGeom prst="rect">
            <a:avLst/>
          </a:prstGeom>
          <a:noFill/>
          <a:ln/>
        </p:spPr>
        <p:txBody>
          <a:bodyPr wrap="square" lIns="0" tIns="0" rIns="0" bIns="0" rtlCol="0" anchor="ctr"/>
          <a:lstStyle/>
          <a:p>
            <a:pPr indent="0" marL="0">
              <a:buNone/>
            </a:pPr>
            <a:r>
              <a:rPr lang="en-US" sz="1200" b="1" spc="300" kern="0" dirty="0">
                <a:solidFill>
                  <a:schemeClr val="accent6"/>
                </a:solidFill>
              </a:rPr>
              <a:t>PITCH  ·  ACADEMIC PROJECT</a:t>
            </a:r>
            <a:endParaRPr lang="en-US" sz="1200" dirty="0"/>
          </a:p>
        </p:txBody>
      </p:sp>
      <p:sp>
        <p:nvSpPr>
          <p:cNvPr id="17" name="Text 14"/>
          <p:cNvSpPr txBox="1"/>
          <p:nvPr/>
        </p:nvSpPr>
        <p:spPr>
          <a:xfrm>
            <a:off x="640080" y="1737360"/>
            <a:ext cx="6949440" cy="1463040"/>
          </a:xfrm>
          <a:prstGeom prst="rect">
            <a:avLst/>
          </a:prstGeom>
          <a:noFill/>
          <a:ln/>
        </p:spPr>
        <p:txBody>
          <a:bodyPr wrap="square" lIns="0" tIns="0" rIns="0" bIns="0" rtlCol="0" anchor="t"/>
          <a:lstStyle/>
          <a:p>
            <a:pPr indent="0" marL="0">
              <a:buNone/>
            </a:pPr>
            <a:r>
              <a:rPr lang="en-US" sz="3200" b="1" dirty="0">
                <a:solidFill>
                  <a:schemeClr val="tx2"/>
                </a:solidFill>
              </a:rPr>
              <a:t>HAVE YOU EVER SEEN A PAYMENT</a:t>
            </a:r>
            <a:endParaRPr lang="en-US" sz="3200" dirty="0"/>
          </a:p>
          <a:p>
            <a:pPr indent="0" marL="0">
              <a:buNone/>
            </a:pPr>
            <a:r>
              <a:rPr lang="en-US" sz="3200" b="1" dirty="0">
                <a:solidFill>
                  <a:schemeClr val="accent1"/>
                </a:solidFill>
              </a:rPr>
              <a:t>YOU NEVER MADE?</a:t>
            </a:r>
            <a:endParaRPr lang="en-US" sz="3200" dirty="0"/>
          </a:p>
        </p:txBody>
      </p:sp>
      <p:sp>
        <p:nvSpPr>
          <p:cNvPr id="18" name="Text 15"/>
          <p:cNvSpPr txBox="1"/>
          <p:nvPr/>
        </p:nvSpPr>
        <p:spPr>
          <a:xfrm>
            <a:off x="640080" y="3474720"/>
            <a:ext cx="6583680" cy="914400"/>
          </a:xfrm>
          <a:prstGeom prst="rect">
            <a:avLst/>
          </a:prstGeom>
          <a:noFill/>
          <a:ln/>
        </p:spPr>
        <p:txBody>
          <a:bodyPr wrap="square" lIns="0" tIns="0" rIns="0" bIns="0" rtlCol="0" anchor="t"/>
          <a:lstStyle/>
          <a:p>
            <a:pPr indent="0" marL="0">
              <a:buNone/>
            </a:pPr>
            <a:r>
              <a:rPr lang="en-US" sz="1600" dirty="0">
                <a:solidFill>
                  <a:schemeClr val="tx1"/>
                </a:solidFill>
              </a:rPr>
              <a:t>Hello everyone! Today we are excited to present our Fraud Detection System for online transactions.</a:t>
            </a:r>
            <a:endParaRPr lang="en-US" sz="1600" dirty="0"/>
          </a:p>
        </p:txBody>
      </p:sp>
      <p:sp>
        <p:nvSpPr>
          <p:cNvPr id="19" name="Shape 16"/>
          <p:cNvSpPr/>
          <p:nvPr/>
        </p:nvSpPr>
        <p:spPr>
          <a:xfrm>
            <a:off x="640080" y="4846320"/>
            <a:ext cx="822960" cy="45720"/>
          </a:xfrm>
          <a:prstGeom prst="rect">
            <a:avLst/>
          </a:prstGeom>
          <a:solidFill>
            <a:schemeClr val="accent1"/>
          </a:solidFill>
          <a:ln w="12700">
            <a:solidFill>
              <a:schemeClr val="accent1"/>
            </a:solidFill>
            <a:prstDash val="solid"/>
          </a:ln>
        </p:spPr>
      </p:sp>
      <p:sp>
        <p:nvSpPr>
          <p:cNvPr id="20" name="Text 17"/>
          <p:cNvSpPr txBox="1"/>
          <p:nvPr/>
        </p:nvSpPr>
        <p:spPr>
          <a:xfrm>
            <a:off x="640080" y="5029200"/>
            <a:ext cx="1828800" cy="274320"/>
          </a:xfrm>
          <a:prstGeom prst="rect">
            <a:avLst/>
          </a:prstGeom>
          <a:noFill/>
          <a:ln/>
        </p:spPr>
        <p:txBody>
          <a:bodyPr wrap="square" lIns="0" tIns="0" rIns="0" bIns="0" rtlCol="0" anchor="t"/>
          <a:lstStyle/>
          <a:p>
            <a:pPr indent="0" marL="0">
              <a:buNone/>
            </a:pPr>
            <a:r>
              <a:rPr lang="en-US" sz="1200" b="1" spc="300" kern="0" dirty="0">
                <a:solidFill>
                  <a:schemeClr val="accent6"/>
                </a:solidFill>
              </a:rPr>
              <a:t>TEAM</a:t>
            </a:r>
            <a:endParaRPr lang="en-US" sz="1200" dirty="0"/>
          </a:p>
        </p:txBody>
      </p:sp>
      <p:sp>
        <p:nvSpPr>
          <p:cNvPr id="21" name="Shape 18"/>
          <p:cNvSpPr/>
          <p:nvPr/>
        </p:nvSpPr>
        <p:spPr>
          <a:xfrm>
            <a:off x="640080" y="5440680"/>
            <a:ext cx="548640" cy="548640"/>
          </a:xfrm>
          <a:prstGeom prst="ellipse">
            <a:avLst/>
          </a:prstGeom>
          <a:solidFill>
            <a:schemeClr val="accent2"/>
          </a:solidFill>
          <a:ln w="12700">
            <a:solidFill>
              <a:srgbClr val="BFE3E3"/>
            </a:solidFill>
            <a:prstDash val="solid"/>
          </a:ln>
        </p:spPr>
      </p:sp>
      <p:sp>
        <p:nvSpPr>
          <p:cNvPr id="22" name="Text 19"/>
          <p:cNvSpPr txBox="1"/>
          <p:nvPr/>
        </p:nvSpPr>
        <p:spPr>
          <a:xfrm>
            <a:off x="640080" y="5440680"/>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latin typeface="JetBrains Mono" pitchFamily="34" charset="0"/>
                <a:ea typeface="JetBrains Mono" pitchFamily="34" charset="-122"/>
                <a:cs typeface="JetBrains Mono" pitchFamily="34" charset="-120"/>
              </a:rPr>
              <a:t>AD</a:t>
            </a:r>
            <a:endParaRPr lang="en-US" sz="1400" dirty="0"/>
          </a:p>
        </p:txBody>
      </p:sp>
      <p:sp>
        <p:nvSpPr>
          <p:cNvPr id="23" name="Text 20"/>
          <p:cNvSpPr txBox="1"/>
          <p:nvPr/>
        </p:nvSpPr>
        <p:spPr>
          <a:xfrm>
            <a:off x="1325880" y="5440680"/>
            <a:ext cx="1920240" cy="548640"/>
          </a:xfrm>
          <a:prstGeom prst="rect">
            <a:avLst/>
          </a:prstGeom>
          <a:noFill/>
          <a:ln/>
        </p:spPr>
        <p:txBody>
          <a:bodyPr wrap="square" lIns="0" tIns="0" rIns="0" bIns="0" rtlCol="0" anchor="ctr"/>
          <a:lstStyle/>
          <a:p>
            <a:pPr indent="0" marL="0">
              <a:buNone/>
            </a:pPr>
            <a:r>
              <a:rPr lang="en-US" sz="1500" b="1" dirty="0">
                <a:solidFill>
                  <a:schemeClr val="tx2"/>
                </a:solidFill>
              </a:rPr>
              <a:t>Aniket Dubey</a:t>
            </a:r>
            <a:endParaRPr lang="en-US" sz="1500" dirty="0"/>
          </a:p>
        </p:txBody>
      </p:sp>
      <p:sp>
        <p:nvSpPr>
          <p:cNvPr id="24" name="Shape 21"/>
          <p:cNvSpPr/>
          <p:nvPr/>
        </p:nvSpPr>
        <p:spPr>
          <a:xfrm>
            <a:off x="3383280" y="5440680"/>
            <a:ext cx="548640" cy="548640"/>
          </a:xfrm>
          <a:prstGeom prst="ellipse">
            <a:avLst/>
          </a:prstGeom>
          <a:solidFill>
            <a:schemeClr val="accent2"/>
          </a:solidFill>
          <a:ln w="12700">
            <a:solidFill>
              <a:srgbClr val="BFE3E3"/>
            </a:solidFill>
            <a:prstDash val="solid"/>
          </a:ln>
        </p:spPr>
      </p:sp>
      <p:sp>
        <p:nvSpPr>
          <p:cNvPr id="25" name="Text 22"/>
          <p:cNvSpPr txBox="1"/>
          <p:nvPr/>
        </p:nvSpPr>
        <p:spPr>
          <a:xfrm>
            <a:off x="3383280" y="5440680"/>
            <a:ext cx="548640" cy="548640"/>
          </a:xfrm>
          <a:prstGeom prst="rect">
            <a:avLst/>
          </a:prstGeom>
          <a:noFill/>
          <a:ln/>
        </p:spPr>
        <p:txBody>
          <a:bodyPr wrap="square" lIns="0" tIns="0" rIns="0" bIns="0" rtlCol="0" anchor="ctr"/>
          <a:lstStyle/>
          <a:p>
            <a:pPr algn="ctr" indent="0" marL="0">
              <a:buNone/>
            </a:pPr>
            <a:r>
              <a:rPr lang="en-US" sz="1400" b="1" dirty="0">
                <a:solidFill>
                  <a:schemeClr val="accent1"/>
                </a:solidFill>
                <a:latin typeface="JetBrains Mono" pitchFamily="34" charset="0"/>
                <a:ea typeface="JetBrains Mono" pitchFamily="34" charset="-122"/>
                <a:cs typeface="JetBrains Mono" pitchFamily="34" charset="-120"/>
              </a:rPr>
              <a:t>RK</a:t>
            </a:r>
            <a:endParaRPr lang="en-US" sz="1400" dirty="0"/>
          </a:p>
        </p:txBody>
      </p:sp>
      <p:sp>
        <p:nvSpPr>
          <p:cNvPr id="26" name="Text 23"/>
          <p:cNvSpPr txBox="1"/>
          <p:nvPr/>
        </p:nvSpPr>
        <p:spPr>
          <a:xfrm>
            <a:off x="4069080" y="5440680"/>
            <a:ext cx="1920240" cy="548640"/>
          </a:xfrm>
          <a:prstGeom prst="rect">
            <a:avLst/>
          </a:prstGeom>
          <a:noFill/>
          <a:ln/>
        </p:spPr>
        <p:txBody>
          <a:bodyPr wrap="square" lIns="0" tIns="0" rIns="0" bIns="0" rtlCol="0" anchor="ctr"/>
          <a:lstStyle/>
          <a:p>
            <a:pPr indent="0" marL="0">
              <a:buNone/>
            </a:pPr>
            <a:r>
              <a:rPr lang="en-US" sz="1500" b="1" dirty="0">
                <a:solidFill>
                  <a:schemeClr val="tx2"/>
                </a:solidFill>
              </a:rPr>
              <a:t>Raju Kumar</a:t>
            </a:r>
            <a:endParaRPr lang="en-US" sz="1500" dirty="0"/>
          </a:p>
        </p:txBody>
      </p:sp>
      <p:sp>
        <p:nvSpPr>
          <p:cNvPr id="27"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endParaRPr lang="en-US" sz="28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THE PROBLEM —</a:t>
            </a:r>
            <a:endParaRPr lang="en-US" sz="2800" dirty="0"/>
          </a:p>
          <a:p>
            <a:pPr indent="0" marL="0">
              <a:buNone/>
            </a:pPr>
            <a:r>
              <a:rPr lang="en-US" sz="2800" b="1" dirty="0">
                <a:solidFill>
                  <a:schemeClr val="accent1"/>
                </a:solidFill>
              </a:rPr>
              <a:t>WHY IT MATTERS</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Make the audience feel the problem.</a:t>
            </a:r>
            <a:endParaRPr lang="en-US" sz="1600" dirty="0"/>
          </a:p>
        </p:txBody>
      </p:sp>
      <p:sp>
        <p:nvSpPr>
          <p:cNvPr id="6" name="Shape 3"/>
          <p:cNvSpPr/>
          <p:nvPr/>
        </p:nvSpPr>
        <p:spPr>
          <a:xfrm>
            <a:off x="640080"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960120" y="2468880"/>
            <a:ext cx="594360" cy="594360"/>
          </a:xfrm>
          <a:prstGeom prst="ellipse">
            <a:avLst/>
          </a:prstGeom>
          <a:solidFill>
            <a:schemeClr val="accent2"/>
          </a:solidFill>
          <a:ln w="12700">
            <a:solidFill>
              <a:srgbClr val="BFE3E3"/>
            </a:solidFill>
            <a:prstDash val="solid"/>
          </a:ln>
        </p:spPr>
      </p:sp>
      <p:sp>
        <p:nvSpPr>
          <p:cNvPr id="8" name="Text 5"/>
          <p:cNvSpPr txBox="1"/>
          <p:nvPr/>
        </p:nvSpPr>
        <p:spPr>
          <a:xfrm>
            <a:off x="960120"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1</a:t>
            </a:r>
            <a:endParaRPr lang="en-US" sz="1500" dirty="0"/>
          </a:p>
        </p:txBody>
      </p:sp>
      <p:sp>
        <p:nvSpPr>
          <p:cNvPr id="9" name="Text 6"/>
          <p:cNvSpPr txBox="1"/>
          <p:nvPr/>
        </p:nvSpPr>
        <p:spPr>
          <a:xfrm>
            <a:off x="1691640"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What is the problem?</a:t>
            </a:r>
            <a:endParaRPr lang="en-US" sz="1600" dirty="0"/>
          </a:p>
        </p:txBody>
      </p:sp>
      <p:sp>
        <p:nvSpPr>
          <p:cNvPr id="10" name="Text 7"/>
          <p:cNvSpPr txBox="1"/>
          <p:nvPr/>
        </p:nvSpPr>
        <p:spPr>
          <a:xfrm>
            <a:off x="960120"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Online fraud hides among millions of normal payments</a:t>
            </a:r>
            <a:endParaRPr lang="en-US" sz="1300" dirty="0"/>
          </a:p>
          <a:p>
            <a:pPr marL="342900" indent="-342900">
              <a:spcAft>
                <a:spcPts val="700"/>
              </a:spcAft>
              <a:buSzPct val="100000"/>
              <a:buChar char="•"/>
            </a:pPr>
            <a:r>
              <a:rPr lang="en-US" sz="1300" dirty="0">
                <a:solidFill>
                  <a:schemeClr val="accent6"/>
                </a:solidFill>
              </a:rPr>
              <a:t>It looks like normal spending</a:t>
            </a:r>
            <a:endParaRPr lang="en-US" sz="1300" dirty="0"/>
          </a:p>
          <a:p>
            <a:pPr marL="342900" indent="-342900">
              <a:spcAft>
                <a:spcPts val="700"/>
              </a:spcAft>
              <a:buSzPct val="100000"/>
              <a:buChar char="•"/>
            </a:pPr>
            <a:r>
              <a:rPr lang="en-US" sz="1300" dirty="0">
                <a:solidFill>
                  <a:schemeClr val="accent6"/>
                </a:solidFill>
              </a:rPr>
              <a:t>Manual checks are slow</a:t>
            </a:r>
            <a:endParaRPr lang="en-US" sz="1300" dirty="0"/>
          </a:p>
        </p:txBody>
      </p:sp>
      <p:sp>
        <p:nvSpPr>
          <p:cNvPr id="11" name="Shape 8"/>
          <p:cNvSpPr/>
          <p:nvPr/>
        </p:nvSpPr>
        <p:spPr>
          <a:xfrm>
            <a:off x="4398264"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2" name="Shape 9"/>
          <p:cNvSpPr/>
          <p:nvPr/>
        </p:nvSpPr>
        <p:spPr>
          <a:xfrm>
            <a:off x="4718304" y="2468880"/>
            <a:ext cx="594360" cy="594360"/>
          </a:xfrm>
          <a:prstGeom prst="ellipse">
            <a:avLst/>
          </a:prstGeom>
          <a:solidFill>
            <a:schemeClr val="accent2"/>
          </a:solidFill>
          <a:ln w="12700">
            <a:solidFill>
              <a:srgbClr val="BFE3E3"/>
            </a:solidFill>
            <a:prstDash val="solid"/>
          </a:ln>
        </p:spPr>
      </p:sp>
      <p:sp>
        <p:nvSpPr>
          <p:cNvPr id="13" name="Text 10"/>
          <p:cNvSpPr txBox="1"/>
          <p:nvPr/>
        </p:nvSpPr>
        <p:spPr>
          <a:xfrm>
            <a:off x="4718304"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2</a:t>
            </a:r>
            <a:endParaRPr lang="en-US" sz="1500" dirty="0"/>
          </a:p>
        </p:txBody>
      </p:sp>
      <p:sp>
        <p:nvSpPr>
          <p:cNvPr id="14" name="Text 11"/>
          <p:cNvSpPr txBox="1"/>
          <p:nvPr/>
        </p:nvSpPr>
        <p:spPr>
          <a:xfrm>
            <a:off x="5449824"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Who faces it?</a:t>
            </a:r>
            <a:endParaRPr lang="en-US" sz="1600" dirty="0"/>
          </a:p>
        </p:txBody>
      </p:sp>
      <p:sp>
        <p:nvSpPr>
          <p:cNvPr id="15" name="Text 12"/>
          <p:cNvSpPr txBox="1"/>
          <p:nvPr/>
        </p:nvSpPr>
        <p:spPr>
          <a:xfrm>
            <a:off x="4718304"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Customers who pay online</a:t>
            </a:r>
            <a:endParaRPr lang="en-US" sz="1300" dirty="0"/>
          </a:p>
          <a:p>
            <a:pPr marL="342900" indent="-342900">
              <a:spcAft>
                <a:spcPts val="700"/>
              </a:spcAft>
              <a:buSzPct val="100000"/>
              <a:buChar char="•"/>
            </a:pPr>
            <a:r>
              <a:rPr lang="en-US" sz="1300" dirty="0">
                <a:solidFill>
                  <a:schemeClr val="accent6"/>
                </a:solidFill>
              </a:rPr>
              <a:t>Banks and payment platforms</a:t>
            </a:r>
            <a:endParaRPr lang="en-US" sz="1300" dirty="0"/>
          </a:p>
          <a:p>
            <a:pPr marL="342900" indent="-342900">
              <a:spcAft>
                <a:spcPts val="700"/>
              </a:spcAft>
              <a:buSzPct val="100000"/>
              <a:buChar char="•"/>
            </a:pPr>
            <a:r>
              <a:rPr lang="en-US" sz="1300" dirty="0">
                <a:solidFill>
                  <a:schemeClr val="accent6"/>
                </a:solidFill>
              </a:rPr>
              <a:t>Fraud analysts under time pressure</a:t>
            </a:r>
            <a:endParaRPr lang="en-US" sz="1300" dirty="0"/>
          </a:p>
        </p:txBody>
      </p:sp>
      <p:sp>
        <p:nvSpPr>
          <p:cNvPr id="16" name="Shape 13"/>
          <p:cNvSpPr/>
          <p:nvPr/>
        </p:nvSpPr>
        <p:spPr>
          <a:xfrm>
            <a:off x="8156448"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7" name="Shape 14"/>
          <p:cNvSpPr/>
          <p:nvPr/>
        </p:nvSpPr>
        <p:spPr>
          <a:xfrm>
            <a:off x="8476488" y="2468880"/>
            <a:ext cx="594360" cy="594360"/>
          </a:xfrm>
          <a:prstGeom prst="ellipse">
            <a:avLst/>
          </a:prstGeom>
          <a:solidFill>
            <a:schemeClr val="accent2"/>
          </a:solidFill>
          <a:ln w="12700">
            <a:solidFill>
              <a:srgbClr val="BFE3E3"/>
            </a:solidFill>
            <a:prstDash val="solid"/>
          </a:ln>
        </p:spPr>
      </p:sp>
      <p:sp>
        <p:nvSpPr>
          <p:cNvPr id="18" name="Text 15"/>
          <p:cNvSpPr txBox="1"/>
          <p:nvPr/>
        </p:nvSpPr>
        <p:spPr>
          <a:xfrm>
            <a:off x="8476488"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3</a:t>
            </a:r>
            <a:endParaRPr lang="en-US" sz="1500" dirty="0"/>
          </a:p>
        </p:txBody>
      </p:sp>
      <p:sp>
        <p:nvSpPr>
          <p:cNvPr id="19" name="Text 16"/>
          <p:cNvSpPr txBox="1"/>
          <p:nvPr/>
        </p:nvSpPr>
        <p:spPr>
          <a:xfrm>
            <a:off x="9208008"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Why solve it now?</a:t>
            </a:r>
            <a:endParaRPr lang="en-US" sz="1600" dirty="0"/>
          </a:p>
        </p:txBody>
      </p:sp>
      <p:sp>
        <p:nvSpPr>
          <p:cNvPr id="20" name="Text 17"/>
          <p:cNvSpPr txBox="1"/>
          <p:nvPr/>
        </p:nvSpPr>
        <p:spPr>
          <a:xfrm>
            <a:off x="8476488"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A missed fraud is a real loss</a:t>
            </a:r>
            <a:endParaRPr lang="en-US" sz="1300" dirty="0"/>
          </a:p>
          <a:p>
            <a:pPr marL="342900" indent="-342900">
              <a:spcAft>
                <a:spcPts val="700"/>
              </a:spcAft>
              <a:buSzPct val="100000"/>
              <a:buChar char="•"/>
            </a:pPr>
            <a:r>
              <a:rPr lang="en-US" sz="1300" dirty="0">
                <a:solidFill>
                  <a:schemeClr val="accent6"/>
                </a:solidFill>
              </a:rPr>
              <a:t>Decisions are needed in seconds</a:t>
            </a:r>
            <a:endParaRPr lang="en-US" sz="1300" dirty="0"/>
          </a:p>
          <a:p>
            <a:pPr marL="342900" indent="-342900">
              <a:spcAft>
                <a:spcPts val="700"/>
              </a:spcAft>
              <a:buSzPct val="100000"/>
              <a:buChar char="•"/>
            </a:pPr>
            <a:r>
              <a:rPr lang="en-US" sz="1300" dirty="0">
                <a:solidFill>
                  <a:schemeClr val="accent6"/>
                </a:solidFill>
              </a:rPr>
              <a:t>Online payments keep growing</a:t>
            </a:r>
            <a:endParaRPr lang="en-US" sz="1300" dirty="0"/>
          </a:p>
        </p:txBody>
      </p:sp>
      <p:sp>
        <p:nvSpPr>
          <p:cNvPr id="21" name="Shape 18"/>
          <p:cNvSpPr/>
          <p:nvPr/>
        </p:nvSpPr>
        <p:spPr>
          <a:xfrm>
            <a:off x="640080" y="5349240"/>
            <a:ext cx="10908792" cy="457200"/>
          </a:xfrm>
          <a:prstGeom prst="roundRect">
            <a:avLst>
              <a:gd name="adj" fmla="val 32000"/>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22" name="Text 19"/>
          <p:cNvSpPr txBox="1"/>
          <p:nvPr/>
        </p:nvSpPr>
        <p:spPr>
          <a:xfrm>
            <a:off x="1005840" y="5349240"/>
            <a:ext cx="10177272" cy="457200"/>
          </a:xfrm>
          <a:prstGeom prst="rect">
            <a:avLst/>
          </a:prstGeom>
          <a:noFill/>
          <a:ln/>
        </p:spPr>
        <p:txBody>
          <a:bodyPr wrap="square" lIns="0" tIns="0" rIns="0" bIns="0" rtlCol="0" anchor="ctr"/>
          <a:lstStyle/>
          <a:p>
            <a:pPr indent="0" marL="0">
              <a:buNone/>
            </a:pPr>
            <a:r>
              <a:rPr lang="en-US" sz="1400" b="1" dirty="0">
                <a:solidFill>
                  <a:schemeClr val="tx2"/>
                </a:solidFill>
              </a:rPr>
              <a:t>Every missed fraud is someone's real loss.</a:t>
            </a:r>
            <a:endParaRPr lang="en-US" sz="1400" dirty="0"/>
          </a:p>
        </p:txBody>
      </p:sp>
      <p:sp>
        <p:nvSpPr>
          <p:cNvPr id="23" name="Shape 20"/>
          <p:cNvSpPr/>
          <p:nvPr/>
        </p:nvSpPr>
        <p:spPr>
          <a:xfrm>
            <a:off x="640080" y="5943600"/>
            <a:ext cx="36576" cy="594360"/>
          </a:xfrm>
          <a:prstGeom prst="rect">
            <a:avLst/>
          </a:prstGeom>
          <a:solidFill>
            <a:schemeClr val="accent1"/>
          </a:solidFill>
          <a:ln w="12700">
            <a:solidFill>
              <a:schemeClr val="accent1"/>
            </a:solidFill>
            <a:prstDash val="solid"/>
          </a:ln>
        </p:spPr>
      </p:sp>
      <p:sp>
        <p:nvSpPr>
          <p:cNvPr id="24" name="Shape 21"/>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25" name="Text 22"/>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26" name="Shape 23"/>
          <p:cNvSpPr/>
          <p:nvPr/>
        </p:nvSpPr>
        <p:spPr>
          <a:xfrm>
            <a:off x="1691640" y="5943600"/>
            <a:ext cx="0" cy="594360"/>
          </a:xfrm>
          <a:prstGeom prst="line">
            <a:avLst/>
          </a:prstGeom>
          <a:noFill/>
          <a:ln w="12700">
            <a:solidFill>
              <a:srgbClr val="BFD0DE"/>
            </a:solidFill>
            <a:prstDash val="solid"/>
          </a:ln>
        </p:spPr>
      </p:sp>
      <p:sp>
        <p:nvSpPr>
          <p:cNvPr id="27" name="Text 24"/>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Fraud is rare. Misses are costly.</a:t>
            </a:r>
            <a:endParaRPr lang="en-US" sz="1500" dirty="0"/>
          </a:p>
          <a:p>
            <a:pPr indent="0" marL="0">
              <a:buNone/>
            </a:pPr>
            <a:r>
              <a:rPr lang="en-US" sz="1500" b="1" dirty="0">
                <a:solidFill>
                  <a:schemeClr val="accent1"/>
                </a:solidFill>
              </a:rPr>
              <a:t>Catch it in seconds.</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OUR SOLUTION —</a:t>
            </a:r>
            <a:endParaRPr lang="en-US" sz="2800" dirty="0"/>
          </a:p>
          <a:p>
            <a:pPr indent="0" marL="0">
              <a:buNone/>
            </a:pPr>
            <a:r>
              <a:rPr lang="en-US" sz="2800" b="1" dirty="0">
                <a:solidFill>
                  <a:schemeClr val="accent1"/>
                </a:solidFill>
              </a:rPr>
              <a:t>THE BIG IDEA</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A web app that scores every transaction for fraud risk.</a:t>
            </a:r>
            <a:endParaRPr lang="en-US" sz="1600" dirty="0"/>
          </a:p>
        </p:txBody>
      </p:sp>
      <p:sp>
        <p:nvSpPr>
          <p:cNvPr id="6" name="Shape 3"/>
          <p:cNvSpPr/>
          <p:nvPr/>
        </p:nvSpPr>
        <p:spPr>
          <a:xfrm>
            <a:off x="640080" y="2194560"/>
            <a:ext cx="1920240" cy="1463040"/>
          </a:xfrm>
          <a:prstGeom prst="roundRect">
            <a:avLst>
              <a:gd name="adj" fmla="val 10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868680" y="2377440"/>
            <a:ext cx="457200" cy="457200"/>
          </a:xfrm>
          <a:prstGeom prst="ellipse">
            <a:avLst/>
          </a:prstGeom>
          <a:solidFill>
            <a:schemeClr val="accent2"/>
          </a:solidFill>
          <a:ln w="12700">
            <a:solidFill>
              <a:srgbClr val="BFE3E3"/>
            </a:solidFill>
            <a:prstDash val="solid"/>
          </a:ln>
        </p:spPr>
      </p:sp>
      <p:sp>
        <p:nvSpPr>
          <p:cNvPr id="8" name="Text 5"/>
          <p:cNvSpPr txBox="1"/>
          <p:nvPr/>
        </p:nvSpPr>
        <p:spPr>
          <a:xfrm>
            <a:off x="868680" y="2377440"/>
            <a:ext cx="45720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JetBrains Mono" pitchFamily="34" charset="0"/>
                <a:ea typeface="JetBrains Mono" pitchFamily="34" charset="-122"/>
                <a:cs typeface="JetBrains Mono" pitchFamily="34" charset="-120"/>
              </a:rPr>
              <a:t>01</a:t>
            </a:r>
            <a:endParaRPr lang="en-US" sz="1200" dirty="0"/>
          </a:p>
        </p:txBody>
      </p:sp>
      <p:sp>
        <p:nvSpPr>
          <p:cNvPr id="9" name="Text 6"/>
          <p:cNvSpPr txBox="1"/>
          <p:nvPr/>
        </p:nvSpPr>
        <p:spPr>
          <a:xfrm>
            <a:off x="868680" y="2926080"/>
            <a:ext cx="1554480" cy="320040"/>
          </a:xfrm>
          <a:prstGeom prst="rect">
            <a:avLst/>
          </a:prstGeom>
          <a:noFill/>
          <a:ln/>
        </p:spPr>
        <p:txBody>
          <a:bodyPr wrap="square" lIns="0" tIns="0" rIns="0" bIns="0" rtlCol="0" anchor="t"/>
          <a:lstStyle/>
          <a:p>
            <a:pPr indent="0" marL="0">
              <a:buNone/>
            </a:pPr>
            <a:r>
              <a:rPr lang="en-US" sz="1500" b="1" dirty="0">
                <a:solidFill>
                  <a:schemeClr val="tx2"/>
                </a:solidFill>
              </a:rPr>
              <a:t>Input</a:t>
            </a:r>
            <a:endParaRPr lang="en-US" sz="1500" dirty="0"/>
          </a:p>
        </p:txBody>
      </p:sp>
      <p:sp>
        <p:nvSpPr>
          <p:cNvPr id="10" name="Text 7"/>
          <p:cNvSpPr txBox="1"/>
          <p:nvPr/>
        </p:nvSpPr>
        <p:spPr>
          <a:xfrm>
            <a:off x="868680" y="3264408"/>
            <a:ext cx="1554480" cy="274320"/>
          </a:xfrm>
          <a:prstGeom prst="rect">
            <a:avLst/>
          </a:prstGeom>
          <a:noFill/>
          <a:ln/>
        </p:spPr>
        <p:txBody>
          <a:bodyPr wrap="square" lIns="0" tIns="0" rIns="0" bIns="0" rtlCol="0" anchor="t"/>
          <a:lstStyle/>
          <a:p>
            <a:pPr indent="0" marL="0">
              <a:buNone/>
            </a:pPr>
            <a:r>
              <a:rPr lang="en-US" sz="1200" dirty="0">
                <a:solidFill>
                  <a:schemeClr val="accent6"/>
                </a:solidFill>
              </a:rPr>
              <a:t>Enter details</a:t>
            </a:r>
            <a:endParaRPr lang="en-US" sz="1200" dirty="0"/>
          </a:p>
        </p:txBody>
      </p:sp>
      <p:sp>
        <p:nvSpPr>
          <p:cNvPr id="11" name="Text 8"/>
          <p:cNvSpPr txBox="1"/>
          <p:nvPr/>
        </p:nvSpPr>
        <p:spPr>
          <a:xfrm>
            <a:off x="2560320" y="2560320"/>
            <a:ext cx="326898" cy="73152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2" name="Shape 9"/>
          <p:cNvSpPr/>
          <p:nvPr/>
        </p:nvSpPr>
        <p:spPr>
          <a:xfrm>
            <a:off x="2887218" y="2194560"/>
            <a:ext cx="1920240" cy="1463040"/>
          </a:xfrm>
          <a:prstGeom prst="roundRect">
            <a:avLst>
              <a:gd name="adj" fmla="val 10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3" name="Shape 10"/>
          <p:cNvSpPr/>
          <p:nvPr/>
        </p:nvSpPr>
        <p:spPr>
          <a:xfrm>
            <a:off x="3115818" y="2377440"/>
            <a:ext cx="457200" cy="457200"/>
          </a:xfrm>
          <a:prstGeom prst="ellipse">
            <a:avLst/>
          </a:prstGeom>
          <a:solidFill>
            <a:schemeClr val="accent2"/>
          </a:solidFill>
          <a:ln w="12700">
            <a:solidFill>
              <a:srgbClr val="BFE3E3"/>
            </a:solidFill>
            <a:prstDash val="solid"/>
          </a:ln>
        </p:spPr>
      </p:sp>
      <p:sp>
        <p:nvSpPr>
          <p:cNvPr id="14" name="Text 11"/>
          <p:cNvSpPr txBox="1"/>
          <p:nvPr/>
        </p:nvSpPr>
        <p:spPr>
          <a:xfrm>
            <a:off x="3115818" y="2377440"/>
            <a:ext cx="45720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JetBrains Mono" pitchFamily="34" charset="0"/>
                <a:ea typeface="JetBrains Mono" pitchFamily="34" charset="-122"/>
                <a:cs typeface="JetBrains Mono" pitchFamily="34" charset="-120"/>
              </a:rPr>
              <a:t>02</a:t>
            </a:r>
            <a:endParaRPr lang="en-US" sz="1200" dirty="0"/>
          </a:p>
        </p:txBody>
      </p:sp>
      <p:sp>
        <p:nvSpPr>
          <p:cNvPr id="15" name="Text 12"/>
          <p:cNvSpPr txBox="1"/>
          <p:nvPr/>
        </p:nvSpPr>
        <p:spPr>
          <a:xfrm>
            <a:off x="3115818" y="2926080"/>
            <a:ext cx="1554480" cy="320040"/>
          </a:xfrm>
          <a:prstGeom prst="rect">
            <a:avLst/>
          </a:prstGeom>
          <a:noFill/>
          <a:ln/>
        </p:spPr>
        <p:txBody>
          <a:bodyPr wrap="square" lIns="0" tIns="0" rIns="0" bIns="0" rtlCol="0" anchor="t"/>
          <a:lstStyle/>
          <a:p>
            <a:pPr indent="0" marL="0">
              <a:buNone/>
            </a:pPr>
            <a:r>
              <a:rPr lang="en-US" sz="1500" b="1" dirty="0">
                <a:solidFill>
                  <a:schemeClr val="tx2"/>
                </a:solidFill>
              </a:rPr>
              <a:t>Validate</a:t>
            </a:r>
            <a:endParaRPr lang="en-US" sz="1500" dirty="0"/>
          </a:p>
        </p:txBody>
      </p:sp>
      <p:sp>
        <p:nvSpPr>
          <p:cNvPr id="16" name="Text 13"/>
          <p:cNvSpPr txBox="1"/>
          <p:nvPr/>
        </p:nvSpPr>
        <p:spPr>
          <a:xfrm>
            <a:off x="3115818" y="3264408"/>
            <a:ext cx="1554480" cy="274320"/>
          </a:xfrm>
          <a:prstGeom prst="rect">
            <a:avLst/>
          </a:prstGeom>
          <a:noFill/>
          <a:ln/>
        </p:spPr>
        <p:txBody>
          <a:bodyPr wrap="square" lIns="0" tIns="0" rIns="0" bIns="0" rtlCol="0" anchor="t"/>
          <a:lstStyle/>
          <a:p>
            <a:pPr indent="0" marL="0">
              <a:buNone/>
            </a:pPr>
            <a:r>
              <a:rPr lang="en-US" sz="1200" dirty="0">
                <a:solidFill>
                  <a:schemeClr val="accent6"/>
                </a:solidFill>
              </a:rPr>
              <a:t>Check ranges</a:t>
            </a:r>
            <a:endParaRPr lang="en-US" sz="1200" dirty="0"/>
          </a:p>
        </p:txBody>
      </p:sp>
      <p:sp>
        <p:nvSpPr>
          <p:cNvPr id="17" name="Text 14"/>
          <p:cNvSpPr txBox="1"/>
          <p:nvPr/>
        </p:nvSpPr>
        <p:spPr>
          <a:xfrm>
            <a:off x="4807458" y="2560320"/>
            <a:ext cx="326898" cy="73152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18" name="Shape 15"/>
          <p:cNvSpPr/>
          <p:nvPr/>
        </p:nvSpPr>
        <p:spPr>
          <a:xfrm>
            <a:off x="5134356" y="2194560"/>
            <a:ext cx="1920240" cy="1463040"/>
          </a:xfrm>
          <a:prstGeom prst="roundRect">
            <a:avLst>
              <a:gd name="adj" fmla="val 10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9" name="Shape 16"/>
          <p:cNvSpPr/>
          <p:nvPr/>
        </p:nvSpPr>
        <p:spPr>
          <a:xfrm>
            <a:off x="5362956" y="2377440"/>
            <a:ext cx="457200" cy="457200"/>
          </a:xfrm>
          <a:prstGeom prst="ellipse">
            <a:avLst/>
          </a:prstGeom>
          <a:solidFill>
            <a:schemeClr val="accent2"/>
          </a:solidFill>
          <a:ln w="12700">
            <a:solidFill>
              <a:srgbClr val="BFE3E3"/>
            </a:solidFill>
            <a:prstDash val="solid"/>
          </a:ln>
        </p:spPr>
      </p:sp>
      <p:sp>
        <p:nvSpPr>
          <p:cNvPr id="20" name="Text 17"/>
          <p:cNvSpPr txBox="1"/>
          <p:nvPr/>
        </p:nvSpPr>
        <p:spPr>
          <a:xfrm>
            <a:off x="5362956" y="2377440"/>
            <a:ext cx="45720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JetBrains Mono" pitchFamily="34" charset="0"/>
                <a:ea typeface="JetBrains Mono" pitchFamily="34" charset="-122"/>
                <a:cs typeface="JetBrains Mono" pitchFamily="34" charset="-120"/>
              </a:rPr>
              <a:t>03</a:t>
            </a:r>
            <a:endParaRPr lang="en-US" sz="1200" dirty="0"/>
          </a:p>
        </p:txBody>
      </p:sp>
      <p:sp>
        <p:nvSpPr>
          <p:cNvPr id="21" name="Text 18"/>
          <p:cNvSpPr txBox="1"/>
          <p:nvPr/>
        </p:nvSpPr>
        <p:spPr>
          <a:xfrm>
            <a:off x="5362956" y="2926080"/>
            <a:ext cx="1554480" cy="320040"/>
          </a:xfrm>
          <a:prstGeom prst="rect">
            <a:avLst/>
          </a:prstGeom>
          <a:noFill/>
          <a:ln/>
        </p:spPr>
        <p:txBody>
          <a:bodyPr wrap="square" lIns="0" tIns="0" rIns="0" bIns="0" rtlCol="0" anchor="t"/>
          <a:lstStyle/>
          <a:p>
            <a:pPr indent="0" marL="0">
              <a:buNone/>
            </a:pPr>
            <a:r>
              <a:rPr lang="en-US" sz="1500" b="1" dirty="0">
                <a:solidFill>
                  <a:schemeClr val="tx2"/>
                </a:solidFill>
              </a:rPr>
              <a:t>ML Model</a:t>
            </a:r>
            <a:endParaRPr lang="en-US" sz="1500" dirty="0"/>
          </a:p>
        </p:txBody>
      </p:sp>
      <p:sp>
        <p:nvSpPr>
          <p:cNvPr id="22" name="Text 19"/>
          <p:cNvSpPr txBox="1"/>
          <p:nvPr/>
        </p:nvSpPr>
        <p:spPr>
          <a:xfrm>
            <a:off x="5362956" y="3264408"/>
            <a:ext cx="1554480" cy="274320"/>
          </a:xfrm>
          <a:prstGeom prst="rect">
            <a:avLst/>
          </a:prstGeom>
          <a:noFill/>
          <a:ln/>
        </p:spPr>
        <p:txBody>
          <a:bodyPr wrap="square" lIns="0" tIns="0" rIns="0" bIns="0" rtlCol="0" anchor="t"/>
          <a:lstStyle/>
          <a:p>
            <a:pPr indent="0" marL="0">
              <a:buNone/>
            </a:pPr>
            <a:r>
              <a:rPr lang="en-US" sz="1200" dirty="0">
                <a:solidFill>
                  <a:schemeClr val="accent6"/>
                </a:solidFill>
              </a:rPr>
              <a:t>Random Forest</a:t>
            </a:r>
            <a:endParaRPr lang="en-US" sz="1200" dirty="0"/>
          </a:p>
        </p:txBody>
      </p:sp>
      <p:sp>
        <p:nvSpPr>
          <p:cNvPr id="23" name="Text 20"/>
          <p:cNvSpPr txBox="1"/>
          <p:nvPr/>
        </p:nvSpPr>
        <p:spPr>
          <a:xfrm>
            <a:off x="7054596" y="2560320"/>
            <a:ext cx="326898" cy="73152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24" name="Shape 21"/>
          <p:cNvSpPr/>
          <p:nvPr/>
        </p:nvSpPr>
        <p:spPr>
          <a:xfrm>
            <a:off x="7381494" y="2194560"/>
            <a:ext cx="1920240" cy="1463040"/>
          </a:xfrm>
          <a:prstGeom prst="roundRect">
            <a:avLst>
              <a:gd name="adj" fmla="val 10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25" name="Shape 22"/>
          <p:cNvSpPr/>
          <p:nvPr/>
        </p:nvSpPr>
        <p:spPr>
          <a:xfrm>
            <a:off x="7610094" y="2377440"/>
            <a:ext cx="457200" cy="457200"/>
          </a:xfrm>
          <a:prstGeom prst="ellipse">
            <a:avLst/>
          </a:prstGeom>
          <a:solidFill>
            <a:schemeClr val="accent2"/>
          </a:solidFill>
          <a:ln w="12700">
            <a:solidFill>
              <a:srgbClr val="BFE3E3"/>
            </a:solidFill>
            <a:prstDash val="solid"/>
          </a:ln>
        </p:spPr>
      </p:sp>
      <p:sp>
        <p:nvSpPr>
          <p:cNvPr id="26" name="Text 23"/>
          <p:cNvSpPr txBox="1"/>
          <p:nvPr/>
        </p:nvSpPr>
        <p:spPr>
          <a:xfrm>
            <a:off x="7610094" y="2377440"/>
            <a:ext cx="45720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JetBrains Mono" pitchFamily="34" charset="0"/>
                <a:ea typeface="JetBrains Mono" pitchFamily="34" charset="-122"/>
                <a:cs typeface="JetBrains Mono" pitchFamily="34" charset="-120"/>
              </a:rPr>
              <a:t>04</a:t>
            </a:r>
            <a:endParaRPr lang="en-US" sz="1200" dirty="0"/>
          </a:p>
        </p:txBody>
      </p:sp>
      <p:sp>
        <p:nvSpPr>
          <p:cNvPr id="27" name="Text 24"/>
          <p:cNvSpPr txBox="1"/>
          <p:nvPr/>
        </p:nvSpPr>
        <p:spPr>
          <a:xfrm>
            <a:off x="7610094" y="2926080"/>
            <a:ext cx="1554480" cy="320040"/>
          </a:xfrm>
          <a:prstGeom prst="rect">
            <a:avLst/>
          </a:prstGeom>
          <a:noFill/>
          <a:ln/>
        </p:spPr>
        <p:txBody>
          <a:bodyPr wrap="square" lIns="0" tIns="0" rIns="0" bIns="0" rtlCol="0" anchor="t"/>
          <a:lstStyle/>
          <a:p>
            <a:pPr indent="0" marL="0">
              <a:buNone/>
            </a:pPr>
            <a:r>
              <a:rPr lang="en-US" sz="1500" b="1" dirty="0">
                <a:solidFill>
                  <a:schemeClr val="tx2"/>
                </a:solidFill>
              </a:rPr>
              <a:t>Risk Score</a:t>
            </a:r>
            <a:endParaRPr lang="en-US" sz="1500" dirty="0"/>
          </a:p>
        </p:txBody>
      </p:sp>
      <p:sp>
        <p:nvSpPr>
          <p:cNvPr id="28" name="Text 25"/>
          <p:cNvSpPr txBox="1"/>
          <p:nvPr/>
        </p:nvSpPr>
        <p:spPr>
          <a:xfrm>
            <a:off x="7610094" y="3264408"/>
            <a:ext cx="1554480" cy="274320"/>
          </a:xfrm>
          <a:prstGeom prst="rect">
            <a:avLst/>
          </a:prstGeom>
          <a:noFill/>
          <a:ln/>
        </p:spPr>
        <p:txBody>
          <a:bodyPr wrap="square" lIns="0" tIns="0" rIns="0" bIns="0" rtlCol="0" anchor="t"/>
          <a:lstStyle/>
          <a:p>
            <a:pPr indent="0" marL="0">
              <a:buNone/>
            </a:pPr>
            <a:r>
              <a:rPr lang="en-US" sz="1200" dirty="0">
                <a:solidFill>
                  <a:schemeClr val="accent6"/>
                </a:solidFill>
              </a:rPr>
              <a:t>Low, medium, high</a:t>
            </a:r>
            <a:endParaRPr lang="en-US" sz="1200" dirty="0"/>
          </a:p>
        </p:txBody>
      </p:sp>
      <p:sp>
        <p:nvSpPr>
          <p:cNvPr id="29" name="Text 26"/>
          <p:cNvSpPr txBox="1"/>
          <p:nvPr/>
        </p:nvSpPr>
        <p:spPr>
          <a:xfrm>
            <a:off x="9301734" y="2560320"/>
            <a:ext cx="326898" cy="731520"/>
          </a:xfrm>
          <a:prstGeom prst="rect">
            <a:avLst/>
          </a:prstGeom>
          <a:noFill/>
          <a:ln/>
        </p:spPr>
        <p:txBody>
          <a:bodyPr wrap="square" lIns="0" tIns="0" rIns="0" bIns="0" rtlCol="0" anchor="ctr"/>
          <a:lstStyle/>
          <a:p>
            <a:pPr algn="ctr" indent="0" marL="0">
              <a:buNone/>
            </a:pPr>
            <a:r>
              <a:rPr lang="en-US" sz="2600" b="1" dirty="0">
                <a:solidFill>
                  <a:schemeClr val="accent1"/>
                </a:solidFill>
              </a:rPr>
              <a:t>›</a:t>
            </a:r>
            <a:endParaRPr lang="en-US" sz="2600" dirty="0"/>
          </a:p>
        </p:txBody>
      </p:sp>
      <p:sp>
        <p:nvSpPr>
          <p:cNvPr id="30" name="Shape 27"/>
          <p:cNvSpPr/>
          <p:nvPr/>
        </p:nvSpPr>
        <p:spPr>
          <a:xfrm>
            <a:off x="9628632" y="2194560"/>
            <a:ext cx="1920240" cy="1463040"/>
          </a:xfrm>
          <a:prstGeom prst="roundRect">
            <a:avLst>
              <a:gd name="adj" fmla="val 10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31" name="Shape 28"/>
          <p:cNvSpPr/>
          <p:nvPr/>
        </p:nvSpPr>
        <p:spPr>
          <a:xfrm>
            <a:off x="9857232" y="2377440"/>
            <a:ext cx="457200" cy="457200"/>
          </a:xfrm>
          <a:prstGeom prst="ellipse">
            <a:avLst/>
          </a:prstGeom>
          <a:solidFill>
            <a:schemeClr val="accent2"/>
          </a:solidFill>
          <a:ln w="12700">
            <a:solidFill>
              <a:srgbClr val="BFE3E3"/>
            </a:solidFill>
            <a:prstDash val="solid"/>
          </a:ln>
        </p:spPr>
      </p:sp>
      <p:sp>
        <p:nvSpPr>
          <p:cNvPr id="32" name="Text 29"/>
          <p:cNvSpPr txBox="1"/>
          <p:nvPr/>
        </p:nvSpPr>
        <p:spPr>
          <a:xfrm>
            <a:off x="9857232" y="2377440"/>
            <a:ext cx="457200" cy="457200"/>
          </a:xfrm>
          <a:prstGeom prst="rect">
            <a:avLst/>
          </a:prstGeom>
          <a:noFill/>
          <a:ln/>
        </p:spPr>
        <p:txBody>
          <a:bodyPr wrap="square" lIns="0" tIns="0" rIns="0" bIns="0" rtlCol="0" anchor="ctr"/>
          <a:lstStyle/>
          <a:p>
            <a:pPr algn="ctr" indent="0" marL="0">
              <a:buNone/>
            </a:pPr>
            <a:r>
              <a:rPr lang="en-US" sz="1200" b="1" dirty="0">
                <a:solidFill>
                  <a:schemeClr val="accent1"/>
                </a:solidFill>
                <a:latin typeface="JetBrains Mono" pitchFamily="34" charset="0"/>
                <a:ea typeface="JetBrains Mono" pitchFamily="34" charset="-122"/>
                <a:cs typeface="JetBrains Mono" pitchFamily="34" charset="-120"/>
              </a:rPr>
              <a:t>05</a:t>
            </a:r>
            <a:endParaRPr lang="en-US" sz="1200" dirty="0"/>
          </a:p>
        </p:txBody>
      </p:sp>
      <p:sp>
        <p:nvSpPr>
          <p:cNvPr id="33" name="Text 30"/>
          <p:cNvSpPr txBox="1"/>
          <p:nvPr/>
        </p:nvSpPr>
        <p:spPr>
          <a:xfrm>
            <a:off x="9857232" y="2926080"/>
            <a:ext cx="1554480" cy="320040"/>
          </a:xfrm>
          <a:prstGeom prst="rect">
            <a:avLst/>
          </a:prstGeom>
          <a:noFill/>
          <a:ln/>
        </p:spPr>
        <p:txBody>
          <a:bodyPr wrap="square" lIns="0" tIns="0" rIns="0" bIns="0" rtlCol="0" anchor="t"/>
          <a:lstStyle/>
          <a:p>
            <a:pPr indent="0" marL="0">
              <a:buNone/>
            </a:pPr>
            <a:r>
              <a:rPr lang="en-US" sz="1500" b="1" dirty="0">
                <a:solidFill>
                  <a:schemeClr val="tx2"/>
                </a:solidFill>
              </a:rPr>
              <a:t>Dashboard</a:t>
            </a:r>
            <a:endParaRPr lang="en-US" sz="1500" dirty="0"/>
          </a:p>
        </p:txBody>
      </p:sp>
      <p:sp>
        <p:nvSpPr>
          <p:cNvPr id="34" name="Text 31"/>
          <p:cNvSpPr txBox="1"/>
          <p:nvPr/>
        </p:nvSpPr>
        <p:spPr>
          <a:xfrm>
            <a:off x="9857232" y="3264408"/>
            <a:ext cx="1554480" cy="274320"/>
          </a:xfrm>
          <a:prstGeom prst="rect">
            <a:avLst/>
          </a:prstGeom>
          <a:noFill/>
          <a:ln/>
        </p:spPr>
        <p:txBody>
          <a:bodyPr wrap="square" lIns="0" tIns="0" rIns="0" bIns="0" rtlCol="0" anchor="t"/>
          <a:lstStyle/>
          <a:p>
            <a:pPr indent="0" marL="0">
              <a:buNone/>
            </a:pPr>
            <a:r>
              <a:rPr lang="en-US" sz="1200" dirty="0">
                <a:solidFill>
                  <a:schemeClr val="accent6"/>
                </a:solidFill>
              </a:rPr>
              <a:t>Charts and history</a:t>
            </a:r>
            <a:endParaRPr lang="en-US" sz="1200" dirty="0"/>
          </a:p>
        </p:txBody>
      </p:sp>
      <p:sp>
        <p:nvSpPr>
          <p:cNvPr id="35" name="Shape 32"/>
          <p:cNvSpPr/>
          <p:nvPr/>
        </p:nvSpPr>
        <p:spPr>
          <a:xfrm>
            <a:off x="640080" y="3931920"/>
            <a:ext cx="3392424" cy="1737360"/>
          </a:xfrm>
          <a:prstGeom prst="roundRect">
            <a:avLst>
              <a:gd name="adj" fmla="val 8421"/>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36" name="Shape 33"/>
          <p:cNvSpPr/>
          <p:nvPr/>
        </p:nvSpPr>
        <p:spPr>
          <a:xfrm>
            <a:off x="960120" y="4206240"/>
            <a:ext cx="457200" cy="457200"/>
          </a:xfrm>
          <a:prstGeom prst="ellipse">
            <a:avLst/>
          </a:prstGeom>
          <a:solidFill>
            <a:schemeClr val="accent1"/>
          </a:solidFill>
          <a:ln w="6350">
            <a:solidFill>
              <a:schemeClr val="accent1"/>
            </a:solidFill>
            <a:prstDash val="solid"/>
          </a:ln>
        </p:spPr>
      </p:sp>
      <p:sp>
        <p:nvSpPr>
          <p:cNvPr id="37" name="Text 34"/>
          <p:cNvSpPr txBox="1"/>
          <p:nvPr/>
        </p:nvSpPr>
        <p:spPr>
          <a:xfrm>
            <a:off x="960120"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38" name="Text 35"/>
          <p:cNvSpPr txBox="1"/>
          <p:nvPr/>
        </p:nvSpPr>
        <p:spPr>
          <a:xfrm>
            <a:off x="1600200" y="4206240"/>
            <a:ext cx="2203704" cy="457200"/>
          </a:xfrm>
          <a:prstGeom prst="rect">
            <a:avLst/>
          </a:prstGeom>
          <a:noFill/>
          <a:ln/>
        </p:spPr>
        <p:txBody>
          <a:bodyPr wrap="square" lIns="0" tIns="0" rIns="0" bIns="0" rtlCol="0" anchor="ctr"/>
          <a:lstStyle/>
          <a:p>
            <a:pPr indent="0" marL="0">
              <a:buNone/>
            </a:pPr>
            <a:r>
              <a:rPr lang="en-US" sz="1700" b="1" dirty="0">
                <a:solidFill>
                  <a:schemeClr val="tx2"/>
                </a:solidFill>
              </a:rPr>
              <a:t>Simple</a:t>
            </a:r>
            <a:endParaRPr lang="en-US" sz="1700" dirty="0"/>
          </a:p>
        </p:txBody>
      </p:sp>
      <p:sp>
        <p:nvSpPr>
          <p:cNvPr id="39" name="Text 36"/>
          <p:cNvSpPr txBox="1"/>
          <p:nvPr/>
        </p:nvSpPr>
        <p:spPr>
          <a:xfrm>
            <a:off x="960120" y="4846320"/>
            <a:ext cx="2752344" cy="731520"/>
          </a:xfrm>
          <a:prstGeom prst="rect">
            <a:avLst/>
          </a:prstGeom>
          <a:noFill/>
          <a:ln/>
        </p:spPr>
        <p:txBody>
          <a:bodyPr wrap="square" lIns="0" tIns="0" rIns="0" bIns="0" rtlCol="0" anchor="t"/>
          <a:lstStyle/>
          <a:p>
            <a:pPr indent="0" marL="0">
              <a:buNone/>
            </a:pPr>
            <a:r>
              <a:rPr lang="en-US" sz="1300" dirty="0">
                <a:solidFill>
                  <a:schemeClr val="accent6"/>
                </a:solidFill>
              </a:rPr>
              <a:t>Enter six details, get an instant result.</a:t>
            </a:r>
            <a:endParaRPr lang="en-US" sz="1300" dirty="0"/>
          </a:p>
        </p:txBody>
      </p:sp>
      <p:sp>
        <p:nvSpPr>
          <p:cNvPr id="40" name="Shape 37"/>
          <p:cNvSpPr/>
          <p:nvPr/>
        </p:nvSpPr>
        <p:spPr>
          <a:xfrm>
            <a:off x="4398264" y="3931920"/>
            <a:ext cx="3392424" cy="1737360"/>
          </a:xfrm>
          <a:prstGeom prst="roundRect">
            <a:avLst>
              <a:gd name="adj" fmla="val 8421"/>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41" name="Shape 38"/>
          <p:cNvSpPr/>
          <p:nvPr/>
        </p:nvSpPr>
        <p:spPr>
          <a:xfrm>
            <a:off x="4718304" y="4206240"/>
            <a:ext cx="457200" cy="457200"/>
          </a:xfrm>
          <a:prstGeom prst="ellipse">
            <a:avLst/>
          </a:prstGeom>
          <a:solidFill>
            <a:schemeClr val="accent1"/>
          </a:solidFill>
          <a:ln w="6350">
            <a:solidFill>
              <a:schemeClr val="accent1"/>
            </a:solidFill>
            <a:prstDash val="solid"/>
          </a:ln>
        </p:spPr>
      </p:sp>
      <p:sp>
        <p:nvSpPr>
          <p:cNvPr id="42" name="Text 39"/>
          <p:cNvSpPr txBox="1"/>
          <p:nvPr/>
        </p:nvSpPr>
        <p:spPr>
          <a:xfrm>
            <a:off x="4718304"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43" name="Text 40"/>
          <p:cNvSpPr txBox="1"/>
          <p:nvPr/>
        </p:nvSpPr>
        <p:spPr>
          <a:xfrm>
            <a:off x="5358384" y="4206240"/>
            <a:ext cx="2203704" cy="457200"/>
          </a:xfrm>
          <a:prstGeom prst="rect">
            <a:avLst/>
          </a:prstGeom>
          <a:noFill/>
          <a:ln/>
        </p:spPr>
        <p:txBody>
          <a:bodyPr wrap="square" lIns="0" tIns="0" rIns="0" bIns="0" rtlCol="0" anchor="ctr"/>
          <a:lstStyle/>
          <a:p>
            <a:pPr indent="0" marL="0">
              <a:buNone/>
            </a:pPr>
            <a:r>
              <a:rPr lang="en-US" sz="1700" b="1" dirty="0">
                <a:solidFill>
                  <a:schemeClr val="tx2"/>
                </a:solidFill>
              </a:rPr>
              <a:t>Effective</a:t>
            </a:r>
            <a:endParaRPr lang="en-US" sz="1700" dirty="0"/>
          </a:p>
        </p:txBody>
      </p:sp>
      <p:sp>
        <p:nvSpPr>
          <p:cNvPr id="44" name="Text 41"/>
          <p:cNvSpPr txBox="1"/>
          <p:nvPr/>
        </p:nvSpPr>
        <p:spPr>
          <a:xfrm>
            <a:off x="4718304" y="4846320"/>
            <a:ext cx="2752344" cy="731520"/>
          </a:xfrm>
          <a:prstGeom prst="rect">
            <a:avLst/>
          </a:prstGeom>
          <a:noFill/>
          <a:ln/>
        </p:spPr>
        <p:txBody>
          <a:bodyPr wrap="square" lIns="0" tIns="0" rIns="0" bIns="0" rtlCol="0" anchor="t"/>
          <a:lstStyle/>
          <a:p>
            <a:pPr indent="0" marL="0">
              <a:buNone/>
            </a:pPr>
            <a:r>
              <a:rPr lang="en-US" sz="1300" dirty="0">
                <a:solidFill>
                  <a:schemeClr val="accent6"/>
                </a:solidFill>
              </a:rPr>
              <a:t>Random Forest reaches F1 0.86 on unseen data.</a:t>
            </a:r>
            <a:endParaRPr lang="en-US" sz="1300" dirty="0"/>
          </a:p>
        </p:txBody>
      </p:sp>
      <p:sp>
        <p:nvSpPr>
          <p:cNvPr id="45" name="Shape 42"/>
          <p:cNvSpPr/>
          <p:nvPr/>
        </p:nvSpPr>
        <p:spPr>
          <a:xfrm>
            <a:off x="8156448" y="3931920"/>
            <a:ext cx="3392424" cy="1737360"/>
          </a:xfrm>
          <a:prstGeom prst="roundRect">
            <a:avLst>
              <a:gd name="adj" fmla="val 8421"/>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46" name="Shape 43"/>
          <p:cNvSpPr/>
          <p:nvPr/>
        </p:nvSpPr>
        <p:spPr>
          <a:xfrm>
            <a:off x="8476488" y="4206240"/>
            <a:ext cx="457200" cy="457200"/>
          </a:xfrm>
          <a:prstGeom prst="ellipse">
            <a:avLst/>
          </a:prstGeom>
          <a:solidFill>
            <a:schemeClr val="accent1"/>
          </a:solidFill>
          <a:ln w="6350">
            <a:solidFill>
              <a:schemeClr val="accent1"/>
            </a:solidFill>
            <a:prstDash val="solid"/>
          </a:ln>
        </p:spPr>
      </p:sp>
      <p:sp>
        <p:nvSpPr>
          <p:cNvPr id="47" name="Text 44"/>
          <p:cNvSpPr txBox="1"/>
          <p:nvPr/>
        </p:nvSpPr>
        <p:spPr>
          <a:xfrm>
            <a:off x="8476488"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Segoe UI Symbol" pitchFamily="34" charset="0"/>
                <a:ea typeface="Segoe UI Symbol" pitchFamily="34" charset="-122"/>
                <a:cs typeface="Segoe UI Symbol" pitchFamily="34" charset="-120"/>
              </a:rPr>
              <a:t>✓</a:t>
            </a:r>
            <a:endParaRPr lang="en-US" sz="1600" dirty="0"/>
          </a:p>
        </p:txBody>
      </p:sp>
      <p:sp>
        <p:nvSpPr>
          <p:cNvPr id="48" name="Text 45"/>
          <p:cNvSpPr txBox="1"/>
          <p:nvPr/>
        </p:nvSpPr>
        <p:spPr>
          <a:xfrm>
            <a:off x="9116568" y="4206240"/>
            <a:ext cx="2203704" cy="457200"/>
          </a:xfrm>
          <a:prstGeom prst="rect">
            <a:avLst/>
          </a:prstGeom>
          <a:noFill/>
          <a:ln/>
        </p:spPr>
        <p:txBody>
          <a:bodyPr wrap="square" lIns="0" tIns="0" rIns="0" bIns="0" rtlCol="0" anchor="ctr"/>
          <a:lstStyle/>
          <a:p>
            <a:pPr indent="0" marL="0">
              <a:buNone/>
            </a:pPr>
            <a:r>
              <a:rPr lang="en-US" sz="1700" b="1" dirty="0">
                <a:solidFill>
                  <a:schemeClr val="tx2"/>
                </a:solidFill>
              </a:rPr>
              <a:t>Unique</a:t>
            </a:r>
            <a:endParaRPr lang="en-US" sz="1700" dirty="0"/>
          </a:p>
        </p:txBody>
      </p:sp>
      <p:sp>
        <p:nvSpPr>
          <p:cNvPr id="49" name="Text 46"/>
          <p:cNvSpPr txBox="1"/>
          <p:nvPr/>
        </p:nvSpPr>
        <p:spPr>
          <a:xfrm>
            <a:off x="8476488" y="4846320"/>
            <a:ext cx="2752344" cy="731520"/>
          </a:xfrm>
          <a:prstGeom prst="rect">
            <a:avLst/>
          </a:prstGeom>
          <a:noFill/>
          <a:ln/>
        </p:spPr>
        <p:txBody>
          <a:bodyPr wrap="square" lIns="0" tIns="0" rIns="0" bIns="0" rtlCol="0" anchor="t"/>
          <a:lstStyle/>
          <a:p>
            <a:pPr indent="0" marL="0">
              <a:buNone/>
            </a:pPr>
            <a:r>
              <a:rPr lang="en-US" sz="1300" dirty="0">
                <a:solidFill>
                  <a:schemeClr val="accent6"/>
                </a:solidFill>
              </a:rPr>
              <a:t>Risk level and a clear recommendation, saved.</a:t>
            </a:r>
            <a:endParaRPr lang="en-US" sz="1300" dirty="0"/>
          </a:p>
        </p:txBody>
      </p:sp>
      <p:sp>
        <p:nvSpPr>
          <p:cNvPr id="50" name="Shape 47"/>
          <p:cNvSpPr/>
          <p:nvPr/>
        </p:nvSpPr>
        <p:spPr>
          <a:xfrm>
            <a:off x="640080" y="5943600"/>
            <a:ext cx="36576" cy="594360"/>
          </a:xfrm>
          <a:prstGeom prst="rect">
            <a:avLst/>
          </a:prstGeom>
          <a:solidFill>
            <a:schemeClr val="accent1"/>
          </a:solidFill>
          <a:ln w="12700">
            <a:solidFill>
              <a:schemeClr val="accent1"/>
            </a:solidFill>
            <a:prstDash val="solid"/>
          </a:ln>
        </p:spPr>
      </p:sp>
      <p:sp>
        <p:nvSpPr>
          <p:cNvPr id="51" name="Shape 48"/>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52" name="Text 49"/>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53" name="Shape 50"/>
          <p:cNvSpPr/>
          <p:nvPr/>
        </p:nvSpPr>
        <p:spPr>
          <a:xfrm>
            <a:off x="1691640" y="5943600"/>
            <a:ext cx="0" cy="594360"/>
          </a:xfrm>
          <a:prstGeom prst="line">
            <a:avLst/>
          </a:prstGeom>
          <a:noFill/>
          <a:ln w="12700">
            <a:solidFill>
              <a:srgbClr val="BFD0DE"/>
            </a:solidFill>
            <a:prstDash val="solid"/>
          </a:ln>
        </p:spPr>
      </p:sp>
      <p:sp>
        <p:nvSpPr>
          <p:cNvPr id="54" name="Text 51"/>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One system. Every transaction.</a:t>
            </a:r>
            <a:endParaRPr lang="en-US" sz="1500" dirty="0"/>
          </a:p>
          <a:p>
            <a:pPr indent="0" marL="0">
              <a:buNone/>
            </a:pPr>
            <a:r>
              <a:rPr lang="en-US" sz="1500" b="1" dirty="0">
                <a:solidFill>
                  <a:schemeClr val="accent1"/>
                </a:solidFill>
              </a:rPr>
              <a:t>Scored, explained, saved.</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WHY WE ARE DIFFERENT —</a:t>
            </a:r>
            <a:endParaRPr lang="en-US" sz="2800" dirty="0"/>
          </a:p>
          <a:p>
            <a:pPr indent="0" marL="0">
              <a:buNone/>
            </a:pPr>
            <a:r>
              <a:rPr lang="en-US" sz="2800" b="1" dirty="0">
                <a:solidFill>
                  <a:schemeClr val="accent1"/>
                </a:solidFill>
              </a:rPr>
              <a:t>MORE THAN A YES OR NO</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Better than a simple fraud flag, because it shows the risk.</a:t>
            </a:r>
            <a:endParaRPr lang="en-US" sz="1600" dirty="0"/>
          </a:p>
        </p:txBody>
      </p:sp>
      <p:sp>
        <p:nvSpPr>
          <p:cNvPr id="6" name="Shape 3"/>
          <p:cNvSpPr/>
          <p:nvPr/>
        </p:nvSpPr>
        <p:spPr>
          <a:xfrm>
            <a:off x="640080"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960120" y="2468880"/>
            <a:ext cx="594360" cy="594360"/>
          </a:xfrm>
          <a:prstGeom prst="ellipse">
            <a:avLst/>
          </a:prstGeom>
          <a:solidFill>
            <a:schemeClr val="accent2"/>
          </a:solidFill>
          <a:ln w="12700">
            <a:solidFill>
              <a:srgbClr val="BFE3E3"/>
            </a:solidFill>
            <a:prstDash val="solid"/>
          </a:ln>
        </p:spPr>
      </p:sp>
      <p:sp>
        <p:nvSpPr>
          <p:cNvPr id="8" name="Text 5"/>
          <p:cNvSpPr txBox="1"/>
          <p:nvPr/>
        </p:nvSpPr>
        <p:spPr>
          <a:xfrm>
            <a:off x="960120"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1</a:t>
            </a:r>
            <a:endParaRPr lang="en-US" sz="1500" dirty="0"/>
          </a:p>
        </p:txBody>
      </p:sp>
      <p:sp>
        <p:nvSpPr>
          <p:cNvPr id="9" name="Text 6"/>
          <p:cNvSpPr txBox="1"/>
          <p:nvPr/>
        </p:nvSpPr>
        <p:spPr>
          <a:xfrm>
            <a:off x="1691640"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What makes it special?</a:t>
            </a:r>
            <a:endParaRPr lang="en-US" sz="1600" dirty="0"/>
          </a:p>
        </p:txBody>
      </p:sp>
      <p:sp>
        <p:nvSpPr>
          <p:cNvPr id="10" name="Text 7"/>
          <p:cNvSpPr txBox="1"/>
          <p:nvPr/>
        </p:nvSpPr>
        <p:spPr>
          <a:xfrm>
            <a:off x="960120"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Risk score from 0 to 1</a:t>
            </a:r>
            <a:endParaRPr lang="en-US" sz="1300" dirty="0"/>
          </a:p>
          <a:p>
            <a:pPr marL="342900" indent="-342900">
              <a:spcAft>
                <a:spcPts val="700"/>
              </a:spcAft>
              <a:buSzPct val="100000"/>
              <a:buChar char="•"/>
            </a:pPr>
            <a:r>
              <a:rPr lang="en-US" sz="1300" dirty="0">
                <a:solidFill>
                  <a:schemeClr val="accent6"/>
                </a:solidFill>
              </a:rPr>
              <a:t>Low, medium or high level</a:t>
            </a:r>
            <a:endParaRPr lang="en-US" sz="1300" dirty="0"/>
          </a:p>
          <a:p>
            <a:pPr marL="342900" indent="-342900">
              <a:spcAft>
                <a:spcPts val="700"/>
              </a:spcAft>
              <a:buSzPct val="100000"/>
              <a:buChar char="•"/>
            </a:pPr>
            <a:r>
              <a:rPr lang="en-US" sz="1300" dirty="0">
                <a:solidFill>
                  <a:schemeClr val="accent6"/>
                </a:solidFill>
              </a:rPr>
              <a:t>A clear recommendation</a:t>
            </a:r>
            <a:endParaRPr lang="en-US" sz="1300" dirty="0"/>
          </a:p>
        </p:txBody>
      </p:sp>
      <p:sp>
        <p:nvSpPr>
          <p:cNvPr id="11" name="Shape 8"/>
          <p:cNvSpPr/>
          <p:nvPr/>
        </p:nvSpPr>
        <p:spPr>
          <a:xfrm>
            <a:off x="4398264"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2" name="Shape 9"/>
          <p:cNvSpPr/>
          <p:nvPr/>
        </p:nvSpPr>
        <p:spPr>
          <a:xfrm>
            <a:off x="4718304" y="2468880"/>
            <a:ext cx="594360" cy="594360"/>
          </a:xfrm>
          <a:prstGeom prst="ellipse">
            <a:avLst/>
          </a:prstGeom>
          <a:solidFill>
            <a:schemeClr val="accent2"/>
          </a:solidFill>
          <a:ln w="12700">
            <a:solidFill>
              <a:srgbClr val="BFE3E3"/>
            </a:solidFill>
            <a:prstDash val="solid"/>
          </a:ln>
        </p:spPr>
      </p:sp>
      <p:sp>
        <p:nvSpPr>
          <p:cNvPr id="13" name="Text 10"/>
          <p:cNvSpPr txBox="1"/>
          <p:nvPr/>
        </p:nvSpPr>
        <p:spPr>
          <a:xfrm>
            <a:off x="4718304"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2</a:t>
            </a:r>
            <a:endParaRPr lang="en-US" sz="1500" dirty="0"/>
          </a:p>
        </p:txBody>
      </p:sp>
      <p:sp>
        <p:nvSpPr>
          <p:cNvPr id="14" name="Text 11"/>
          <p:cNvSpPr txBox="1"/>
          <p:nvPr/>
        </p:nvSpPr>
        <p:spPr>
          <a:xfrm>
            <a:off x="5449824"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Better because...</a:t>
            </a:r>
            <a:endParaRPr lang="en-US" sz="1600" dirty="0"/>
          </a:p>
        </p:txBody>
      </p:sp>
      <p:sp>
        <p:nvSpPr>
          <p:cNvPr id="15" name="Text 12"/>
          <p:cNvSpPr txBox="1"/>
          <p:nvPr/>
        </p:nvSpPr>
        <p:spPr>
          <a:xfrm>
            <a:off x="4718304"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Judged on precision and recall, not accuracy</a:t>
            </a:r>
            <a:endParaRPr lang="en-US" sz="1300" dirty="0"/>
          </a:p>
          <a:p>
            <a:pPr marL="342900" indent="-342900">
              <a:spcAft>
                <a:spcPts val="700"/>
              </a:spcAft>
              <a:buSzPct val="100000"/>
              <a:buChar char="•"/>
            </a:pPr>
            <a:r>
              <a:rPr lang="en-US" sz="1300" dirty="0">
                <a:solidFill>
                  <a:schemeClr val="accent6"/>
                </a:solidFill>
              </a:rPr>
              <a:t>Cross-validated on 5 folds</a:t>
            </a:r>
            <a:endParaRPr lang="en-US" sz="1300" dirty="0"/>
          </a:p>
          <a:p>
            <a:pPr marL="342900" indent="-342900">
              <a:spcAft>
                <a:spcPts val="700"/>
              </a:spcAft>
              <a:buSzPct val="100000"/>
              <a:buChar char="•"/>
            </a:pPr>
            <a:r>
              <a:rPr lang="en-US" sz="1300" dirty="0">
                <a:solidFill>
                  <a:schemeClr val="accent6"/>
                </a:solidFill>
              </a:rPr>
              <a:t>Every result is saved</a:t>
            </a:r>
            <a:endParaRPr lang="en-US" sz="1300" dirty="0"/>
          </a:p>
        </p:txBody>
      </p:sp>
      <p:sp>
        <p:nvSpPr>
          <p:cNvPr id="16" name="Shape 13"/>
          <p:cNvSpPr/>
          <p:nvPr/>
        </p:nvSpPr>
        <p:spPr>
          <a:xfrm>
            <a:off x="8156448" y="2194560"/>
            <a:ext cx="3392424" cy="2926080"/>
          </a:xfrm>
          <a:prstGeom prst="roundRect">
            <a:avLst>
              <a:gd name="adj" fmla="val 50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7" name="Shape 14"/>
          <p:cNvSpPr/>
          <p:nvPr/>
        </p:nvSpPr>
        <p:spPr>
          <a:xfrm>
            <a:off x="8476488" y="2468880"/>
            <a:ext cx="594360" cy="594360"/>
          </a:xfrm>
          <a:prstGeom prst="ellipse">
            <a:avLst/>
          </a:prstGeom>
          <a:solidFill>
            <a:schemeClr val="accent2"/>
          </a:solidFill>
          <a:ln w="12700">
            <a:solidFill>
              <a:srgbClr val="BFE3E3"/>
            </a:solidFill>
            <a:prstDash val="solid"/>
          </a:ln>
        </p:spPr>
      </p:sp>
      <p:sp>
        <p:nvSpPr>
          <p:cNvPr id="18" name="Text 15"/>
          <p:cNvSpPr txBox="1"/>
          <p:nvPr/>
        </p:nvSpPr>
        <p:spPr>
          <a:xfrm>
            <a:off x="8476488"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3</a:t>
            </a:r>
            <a:endParaRPr lang="en-US" sz="1500" dirty="0"/>
          </a:p>
        </p:txBody>
      </p:sp>
      <p:sp>
        <p:nvSpPr>
          <p:cNvPr id="19" name="Text 16"/>
          <p:cNvSpPr txBox="1"/>
          <p:nvPr/>
        </p:nvSpPr>
        <p:spPr>
          <a:xfrm>
            <a:off x="9208008"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Biggest advantage</a:t>
            </a:r>
            <a:endParaRPr lang="en-US" sz="1600" dirty="0"/>
          </a:p>
        </p:txBody>
      </p:sp>
      <p:sp>
        <p:nvSpPr>
          <p:cNvPr id="20" name="Text 17"/>
          <p:cNvSpPr txBox="1"/>
          <p:nvPr/>
        </p:nvSpPr>
        <p:spPr>
          <a:xfrm>
            <a:off x="8476488" y="3246120"/>
            <a:ext cx="2752344" cy="173736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Works end to end, from form to dashboard</a:t>
            </a:r>
            <a:endParaRPr lang="en-US" sz="1300" dirty="0"/>
          </a:p>
          <a:p>
            <a:pPr marL="342900" indent="-342900">
              <a:spcAft>
                <a:spcPts val="700"/>
              </a:spcAft>
              <a:buSzPct val="100000"/>
              <a:buChar char="•"/>
            </a:pPr>
            <a:r>
              <a:rPr lang="en-US" sz="1300" dirty="0">
                <a:solidFill>
                  <a:schemeClr val="accent6"/>
                </a:solidFill>
              </a:rPr>
              <a:t>Validated inputs and 8 passing tests</a:t>
            </a:r>
            <a:endParaRPr lang="en-US" sz="1300" dirty="0"/>
          </a:p>
          <a:p>
            <a:pPr marL="342900" indent="-342900">
              <a:spcAft>
                <a:spcPts val="700"/>
              </a:spcAft>
              <a:buSzPct val="100000"/>
              <a:buChar char="•"/>
            </a:pPr>
            <a:r>
              <a:rPr lang="en-US" sz="1300" dirty="0">
                <a:solidFill>
                  <a:schemeClr val="accent6"/>
                </a:solidFill>
              </a:rPr>
              <a:t>Simple enough to explain and extend</a:t>
            </a:r>
            <a:endParaRPr lang="en-US" sz="1300" dirty="0"/>
          </a:p>
        </p:txBody>
      </p:sp>
      <p:sp>
        <p:nvSpPr>
          <p:cNvPr id="21" name="Shape 18"/>
          <p:cNvSpPr/>
          <p:nvPr/>
        </p:nvSpPr>
        <p:spPr>
          <a:xfrm>
            <a:off x="640080" y="5349240"/>
            <a:ext cx="10908792" cy="457200"/>
          </a:xfrm>
          <a:prstGeom prst="roundRect">
            <a:avLst>
              <a:gd name="adj" fmla="val 32000"/>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22" name="Text 19"/>
          <p:cNvSpPr txBox="1"/>
          <p:nvPr/>
        </p:nvSpPr>
        <p:spPr>
          <a:xfrm>
            <a:off x="1005840" y="5349240"/>
            <a:ext cx="10177272" cy="457200"/>
          </a:xfrm>
          <a:prstGeom prst="rect">
            <a:avLst/>
          </a:prstGeom>
          <a:noFill/>
          <a:ln/>
        </p:spPr>
        <p:txBody>
          <a:bodyPr wrap="square" lIns="0" tIns="0" rIns="0" bIns="0" rtlCol="0" anchor="ctr"/>
          <a:lstStyle/>
          <a:p>
            <a:pPr indent="0" marL="0">
              <a:buNone/>
            </a:pPr>
            <a:r>
              <a:rPr lang="en-US" sz="1400" b="1" dirty="0">
                <a:solidFill>
                  <a:schemeClr val="tx2"/>
                </a:solidFill>
              </a:rPr>
              <a:t>More value. A better, clearer solution.</a:t>
            </a:r>
            <a:endParaRPr lang="en-US" sz="1400" dirty="0"/>
          </a:p>
        </p:txBody>
      </p:sp>
      <p:sp>
        <p:nvSpPr>
          <p:cNvPr id="23" name="Shape 20"/>
          <p:cNvSpPr/>
          <p:nvPr/>
        </p:nvSpPr>
        <p:spPr>
          <a:xfrm>
            <a:off x="640080" y="5943600"/>
            <a:ext cx="36576" cy="594360"/>
          </a:xfrm>
          <a:prstGeom prst="rect">
            <a:avLst/>
          </a:prstGeom>
          <a:solidFill>
            <a:schemeClr val="accent1"/>
          </a:solidFill>
          <a:ln w="12700">
            <a:solidFill>
              <a:schemeClr val="accent1"/>
            </a:solidFill>
            <a:prstDash val="solid"/>
          </a:ln>
        </p:spPr>
      </p:sp>
      <p:sp>
        <p:nvSpPr>
          <p:cNvPr id="24" name="Shape 21"/>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25" name="Text 22"/>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26" name="Shape 23"/>
          <p:cNvSpPr/>
          <p:nvPr/>
        </p:nvSpPr>
        <p:spPr>
          <a:xfrm>
            <a:off x="1691640" y="5943600"/>
            <a:ext cx="0" cy="594360"/>
          </a:xfrm>
          <a:prstGeom prst="line">
            <a:avLst/>
          </a:prstGeom>
          <a:noFill/>
          <a:ln w="12700">
            <a:solidFill>
              <a:srgbClr val="BFD0DE"/>
            </a:solidFill>
            <a:prstDash val="solid"/>
          </a:ln>
        </p:spPr>
      </p:sp>
      <p:sp>
        <p:nvSpPr>
          <p:cNvPr id="27" name="Text 24"/>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Not just a flag.</a:t>
            </a:r>
            <a:endParaRPr lang="en-US" sz="1500" dirty="0"/>
          </a:p>
          <a:p>
            <a:pPr indent="0" marL="0">
              <a:buNone/>
            </a:pPr>
            <a:r>
              <a:rPr lang="en-US" sz="1500" b="1" dirty="0">
                <a:solidFill>
                  <a:schemeClr val="accent1"/>
                </a:solidFill>
              </a:rPr>
              <a:t>A score, a level, an action.</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COMPETITOR ANALYSIS —</a:t>
            </a:r>
            <a:endParaRPr lang="en-US" sz="2800" dirty="0"/>
          </a:p>
          <a:p>
            <a:pPr indent="0" marL="0">
              <a:buNone/>
            </a:pPr>
            <a:r>
              <a:rPr lang="en-US" sz="2800" b="1" dirty="0">
                <a:solidFill>
                  <a:schemeClr val="accent1"/>
                </a:solidFill>
              </a:rPr>
              <a:t>HOW WE COMPARE</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Illustrative comparison by approach. Verify before presenting.</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08792" cy="914400"/>
        </p:xfrm>
        <a:graphic>
          <a:graphicData uri="http://schemas.openxmlformats.org/drawingml/2006/table">
            <a:tbl>
              <a:tblPr/>
              <a:tblGrid>
                <a:gridCol w="2468880"/>
                <a:gridCol w="2103120"/>
                <a:gridCol w="2103120"/>
                <a:gridCol w="2103120"/>
                <a:gridCol w="2130552"/>
              </a:tblGrid>
              <a:tr h="457200">
                <a:tc>
                  <a:txBody>
                    <a:bodyPr/>
                    <a:lstStyle/>
                    <a:p>
                      <a:pPr algn="ctr" indent="0" marL="0">
                        <a:buNone/>
                      </a:pPr>
                      <a:r>
                        <a:rPr lang="en-US" sz="1200" b="1" dirty="0">
                          <a:solidFill>
                            <a:srgbClr val="FFFFFF"/>
                          </a:solidFill>
                        </a:rPr>
                        <a:t>Features</a:t>
                      </a:r>
                      <a:endParaRPr lang="en-US" sz="12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0B3B73"/>
                    </a:solidFill>
                  </a:tcPr>
                </a:tc>
                <a:tc>
                  <a:txBody>
                    <a:bodyPr/>
                    <a:lstStyle/>
                    <a:p>
                      <a:pPr algn="ctr" indent="0" marL="0">
                        <a:buNone/>
                      </a:pPr>
                      <a:r>
                        <a:rPr lang="en-US" sz="1200" b="1" dirty="0">
                          <a:solidFill>
                            <a:srgbClr val="FFFFFF"/>
                          </a:solidFill>
                        </a:rPr>
                        <a:t>Manual review</a:t>
                      </a:r>
                      <a:endParaRPr lang="en-US" sz="12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0B3B73"/>
                    </a:solidFill>
                  </a:tcPr>
                </a:tc>
                <a:tc>
                  <a:txBody>
                    <a:bodyPr/>
                    <a:lstStyle/>
                    <a:p>
                      <a:pPr algn="ctr" indent="0" marL="0">
                        <a:buNone/>
                      </a:pPr>
                      <a:r>
                        <a:rPr lang="en-US" sz="1200" b="1" dirty="0">
                          <a:solidFill>
                            <a:srgbClr val="FFFFFF"/>
                          </a:solidFill>
                        </a:rPr>
                        <a:t>Fixed rules only</a:t>
                      </a:r>
                      <a:endParaRPr lang="en-US" sz="12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0B3B73"/>
                    </a:solidFill>
                  </a:tcPr>
                </a:tc>
                <a:tc>
                  <a:txBody>
                    <a:bodyPr/>
                    <a:lstStyle/>
                    <a:p>
                      <a:pPr algn="ctr" indent="0" marL="0">
                        <a:buNone/>
                      </a:pPr>
                      <a:r>
                        <a:rPr lang="en-US" sz="1200" b="1" dirty="0">
                          <a:solidFill>
                            <a:srgbClr val="FFFFFF"/>
                          </a:solidFill>
                        </a:rPr>
                        <a:t>Generic ML tools</a:t>
                      </a:r>
                      <a:endParaRPr lang="en-US" sz="12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0B3B73"/>
                    </a:solidFill>
                  </a:tcPr>
                </a:tc>
                <a:tc>
                  <a:txBody>
                    <a:bodyPr/>
                    <a:lstStyle/>
                    <a:p>
                      <a:pPr algn="ctr" indent="0" marL="0">
                        <a:buNone/>
                      </a:pPr>
                      <a:r>
                        <a:rPr lang="en-US" sz="1200" b="1" dirty="0">
                          <a:solidFill>
                            <a:srgbClr val="FFFFFF"/>
                          </a:solidFill>
                        </a:rPr>
                        <a:t>Our idea</a:t>
                      </a:r>
                      <a:endParaRPr lang="en-US" sz="12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0B3B73"/>
                    </a:solidFill>
                  </a:tcPr>
                </a:tc>
              </a:tr>
              <a:tr h="457200">
                <a:tc>
                  <a:txBody>
                    <a:bodyPr/>
                    <a:lstStyle/>
                    <a:p>
                      <a:pPr indent="0" marL="0">
                        <a:buNone/>
                      </a:pPr>
                      <a:r>
                        <a:rPr lang="en-US" sz="1300" b="1" dirty="0">
                          <a:solidFill>
                            <a:srgbClr val="0B3B73"/>
                          </a:solidFill>
                        </a:rPr>
                        <a:t>Speed</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Slow</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Fast</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Fast</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47857"/>
                          </a:solidFill>
                        </a:rPr>
                        <a:t>Fast  ✓</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E3F4F4"/>
                    </a:solidFill>
                  </a:tcPr>
                </a:tc>
              </a:tr>
              <a:tr h="457200">
                <a:tc>
                  <a:txBody>
                    <a:bodyPr/>
                    <a:lstStyle/>
                    <a:p>
                      <a:pPr indent="0" marL="0">
                        <a:buNone/>
                      </a:pPr>
                      <a:r>
                        <a:rPr lang="en-US" sz="1300" b="1" dirty="0">
                          <a:solidFill>
                            <a:srgbClr val="0B3B73"/>
                          </a:solidFill>
                        </a:rPr>
                        <a:t>Learns new patterns</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No</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Limited</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Yes</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47857"/>
                          </a:solidFill>
                        </a:rPr>
                        <a:t>Yes  ✓</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E3F4F4"/>
                    </a:solidFill>
                  </a:tcPr>
                </a:tc>
              </a:tr>
              <a:tr h="457200">
                <a:tc>
                  <a:txBody>
                    <a:bodyPr/>
                    <a:lstStyle/>
                    <a:p>
                      <a:pPr indent="0" marL="0">
                        <a:buNone/>
                      </a:pPr>
                      <a:r>
                        <a:rPr lang="en-US" sz="1300" b="1" dirty="0">
                          <a:solidFill>
                            <a:srgbClr val="0B3B73"/>
                          </a:solidFill>
                        </a:rPr>
                        <a:t>Risk score and level</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No</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Rarely</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Varies</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47857"/>
                          </a:solidFill>
                        </a:rPr>
                        <a:t>Yes  ✓</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E3F4F4"/>
                    </a:solidFill>
                  </a:tcPr>
                </a:tc>
              </a:tr>
              <a:tr h="457200">
                <a:tc>
                  <a:txBody>
                    <a:bodyPr/>
                    <a:lstStyle/>
                    <a:p>
                      <a:pPr indent="0" marL="0">
                        <a:buNone/>
                      </a:pPr>
                      <a:r>
                        <a:rPr lang="en-US" sz="1300" b="1" dirty="0">
                          <a:solidFill>
                            <a:srgbClr val="0B3B73"/>
                          </a:solidFill>
                        </a:rPr>
                        <a:t>Cost to run</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High</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Low</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3A5F"/>
                          </a:solidFill>
                        </a:rPr>
                        <a:t>Medium</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47857"/>
                          </a:solidFill>
                        </a:rPr>
                        <a:t>Low  ✓</a:t>
                      </a:r>
                      <a:endParaRPr lang="en-US" sz="1300" dirty="0"/>
                    </a:p>
                  </a:txBody>
                  <a:tcPr marL="91440" marR="91440" marT="45720" marB="45720" anchor="ctr">
                    <a:lnL w="9525" cap="flat" cmpd="sng" algn="ctr">
                      <a:solidFill>
                        <a:srgbClr val="D6EAEC"/>
                      </a:solidFill>
                      <a:prstDash val="solid"/>
                      <a:round/>
                      <a:headEnd type="none" w="med" len="med"/>
                      <a:tailEnd type="none" w="med" len="med"/>
                    </a:lnL>
                    <a:lnR w="9525" cap="flat" cmpd="sng" algn="ctr">
                      <a:solidFill>
                        <a:srgbClr val="D6EAEC"/>
                      </a:solidFill>
                      <a:prstDash val="solid"/>
                      <a:round/>
                      <a:headEnd type="none" w="med" len="med"/>
                      <a:tailEnd type="none" w="med" len="med"/>
                    </a:lnR>
                    <a:lnT w="9525" cap="flat" cmpd="sng" algn="ctr">
                      <a:solidFill>
                        <a:srgbClr val="D6EAEC"/>
                      </a:solidFill>
                      <a:prstDash val="solid"/>
                      <a:round/>
                      <a:headEnd type="none" w="med" len="med"/>
                      <a:tailEnd type="none" w="med" len="med"/>
                    </a:lnT>
                    <a:lnB w="9525" cap="flat" cmpd="sng" algn="ctr">
                      <a:solidFill>
                        <a:srgbClr val="D6EAEC"/>
                      </a:solidFill>
                      <a:prstDash val="solid"/>
                      <a:round/>
                      <a:headEnd type="none" w="med" len="med"/>
                      <a:tailEnd type="none" w="med" len="med"/>
                    </a:lnB>
                    <a:solidFill>
                      <a:srgbClr val="E3F4F4"/>
                    </a:solidFill>
                  </a:tcPr>
                </a:tc>
              </a:tr>
            </a:tbl>
          </a:graphicData>
        </a:graphic>
      </p:graphicFrame>
      <p:sp>
        <p:nvSpPr>
          <p:cNvPr id="7" name="Shape 3"/>
          <p:cNvSpPr/>
          <p:nvPr/>
        </p:nvSpPr>
        <p:spPr>
          <a:xfrm>
            <a:off x="640080" y="4663440"/>
            <a:ext cx="5303520" cy="1143000"/>
          </a:xfrm>
          <a:prstGeom prst="roundRect">
            <a:avLst>
              <a:gd name="adj" fmla="val 12800"/>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8" name="Text 4"/>
          <p:cNvSpPr txBox="1"/>
          <p:nvPr/>
        </p:nvSpPr>
        <p:spPr>
          <a:xfrm>
            <a:off x="914400" y="4800600"/>
            <a:ext cx="47548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OUR COMPETITIVE ADVANTAGE</a:t>
            </a:r>
            <a:endParaRPr lang="en-US" sz="1100" dirty="0"/>
          </a:p>
        </p:txBody>
      </p:sp>
      <p:sp>
        <p:nvSpPr>
          <p:cNvPr id="9" name="Text 5"/>
          <p:cNvSpPr txBox="1"/>
          <p:nvPr/>
        </p:nvSpPr>
        <p:spPr>
          <a:xfrm>
            <a:off x="914400" y="5120640"/>
            <a:ext cx="4754880" cy="640080"/>
          </a:xfrm>
          <a:prstGeom prst="rect">
            <a:avLst/>
          </a:prstGeom>
          <a:noFill/>
          <a:ln/>
        </p:spPr>
        <p:txBody>
          <a:bodyPr wrap="square" lIns="0" tIns="0" rIns="0" bIns="0" rtlCol="0" anchor="t"/>
          <a:lstStyle/>
          <a:p>
            <a:pPr indent="0" marL="0">
              <a:buNone/>
            </a:pPr>
            <a:r>
              <a:rPr lang="en-US" sz="1300" dirty="0">
                <a:solidFill>
                  <a:schemeClr val="tx2"/>
                </a:solidFill>
              </a:rPr>
              <a:t>Fast, adaptive and easy to explain, with a clear risk level for every transaction.</a:t>
            </a:r>
            <a:endParaRPr lang="en-US" sz="1300" dirty="0"/>
          </a:p>
        </p:txBody>
      </p:sp>
      <p:sp>
        <p:nvSpPr>
          <p:cNvPr id="10" name="Shape 6"/>
          <p:cNvSpPr/>
          <p:nvPr/>
        </p:nvSpPr>
        <p:spPr>
          <a:xfrm>
            <a:off x="6245352" y="4663440"/>
            <a:ext cx="5303520" cy="1143000"/>
          </a:xfrm>
          <a:prstGeom prst="roundRect">
            <a:avLst>
              <a:gd name="adj" fmla="val 12800"/>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11" name="Text 7"/>
          <p:cNvSpPr txBox="1"/>
          <p:nvPr/>
        </p:nvSpPr>
        <p:spPr>
          <a:xfrm>
            <a:off x="6519672" y="4800600"/>
            <a:ext cx="475488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POWERFUL PITCH LINE</a:t>
            </a:r>
            <a:endParaRPr lang="en-US" sz="1100" dirty="0"/>
          </a:p>
        </p:txBody>
      </p:sp>
      <p:sp>
        <p:nvSpPr>
          <p:cNvPr id="12" name="Text 8"/>
          <p:cNvSpPr txBox="1"/>
          <p:nvPr/>
        </p:nvSpPr>
        <p:spPr>
          <a:xfrm>
            <a:off x="6519672" y="5120640"/>
            <a:ext cx="4754880" cy="640080"/>
          </a:xfrm>
          <a:prstGeom prst="rect">
            <a:avLst/>
          </a:prstGeom>
          <a:noFill/>
          <a:ln/>
        </p:spPr>
        <p:txBody>
          <a:bodyPr wrap="square" lIns="0" tIns="0" rIns="0" bIns="0" rtlCol="0" anchor="t"/>
          <a:lstStyle/>
          <a:p>
            <a:pPr indent="0" marL="0">
              <a:buNone/>
            </a:pPr>
            <a:r>
              <a:rPr lang="en-US" sz="1300" b="1" dirty="0">
                <a:solidFill>
                  <a:schemeClr val="tx2"/>
                </a:solidFill>
              </a:rPr>
              <a:t>We are not just another option. We score, explain and track every transaction.</a:t>
            </a:r>
            <a:endParaRPr lang="en-US" sz="1300" dirty="0"/>
          </a:p>
        </p:txBody>
      </p:sp>
      <p:sp>
        <p:nvSpPr>
          <p:cNvPr id="13" name="Shape 9"/>
          <p:cNvSpPr/>
          <p:nvPr/>
        </p:nvSpPr>
        <p:spPr>
          <a:xfrm>
            <a:off x="640080" y="5943600"/>
            <a:ext cx="36576" cy="594360"/>
          </a:xfrm>
          <a:prstGeom prst="rect">
            <a:avLst/>
          </a:prstGeom>
          <a:solidFill>
            <a:schemeClr val="accent1"/>
          </a:solidFill>
          <a:ln w="12700">
            <a:solidFill>
              <a:schemeClr val="accent1"/>
            </a:solidFill>
            <a:prstDash val="solid"/>
          </a:ln>
        </p:spPr>
      </p:sp>
      <p:sp>
        <p:nvSpPr>
          <p:cNvPr id="14" name="Shape 10"/>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15" name="Text 11"/>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16" name="Shape 12"/>
          <p:cNvSpPr/>
          <p:nvPr/>
        </p:nvSpPr>
        <p:spPr>
          <a:xfrm>
            <a:off x="1691640" y="5943600"/>
            <a:ext cx="0" cy="594360"/>
          </a:xfrm>
          <a:prstGeom prst="line">
            <a:avLst/>
          </a:prstGeom>
          <a:noFill/>
          <a:ln w="12700">
            <a:solidFill>
              <a:srgbClr val="BFD0DE"/>
            </a:solidFill>
            <a:prstDash val="solid"/>
          </a:ln>
        </p:spPr>
      </p:sp>
      <p:sp>
        <p:nvSpPr>
          <p:cNvPr id="17" name="Text 13"/>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Fast. Adaptive. Explainable.</a:t>
            </a:r>
            <a:endParaRPr lang="en-US" sz="1500" dirty="0"/>
          </a:p>
          <a:p>
            <a:pPr indent="0" marL="0">
              <a:buNone/>
            </a:pPr>
            <a:r>
              <a:rPr lang="en-US" sz="1500" b="1" dirty="0">
                <a:solidFill>
                  <a:schemeClr val="accent1"/>
                </a:solidFill>
              </a:rPr>
              <a:t>Better value for less cost.</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THE PROOF —</a:t>
            </a:r>
            <a:endParaRPr lang="en-US" sz="2800" dirty="0"/>
          </a:p>
          <a:p>
            <a:pPr indent="0" marL="0">
              <a:buNone/>
            </a:pPr>
            <a:r>
              <a:rPr lang="en-US" sz="2800" b="1" dirty="0">
                <a:solidFill>
                  <a:schemeClr val="accent1"/>
                </a:solidFill>
              </a:rPr>
              <a:t>IT WORKS ON UNSEEN DATA</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Random Forest on 4,000 held-out transactions, plus 5-fold cross-validation.</a:t>
            </a:r>
            <a:endParaRPr lang="en-US" sz="1600" dirty="0"/>
          </a:p>
        </p:txBody>
      </p:sp>
      <p:sp>
        <p:nvSpPr>
          <p:cNvPr id="6" name="Shape 3"/>
          <p:cNvSpPr/>
          <p:nvPr/>
        </p:nvSpPr>
        <p:spPr>
          <a:xfrm>
            <a:off x="640080" y="2194560"/>
            <a:ext cx="2487168" cy="2103120"/>
          </a:xfrm>
          <a:prstGeom prst="roundRect">
            <a:avLst>
              <a:gd name="adj" fmla="val 6957"/>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Text 4"/>
          <p:cNvSpPr txBox="1"/>
          <p:nvPr/>
        </p:nvSpPr>
        <p:spPr>
          <a:xfrm>
            <a:off x="640080" y="2468880"/>
            <a:ext cx="2487168" cy="822960"/>
          </a:xfrm>
          <a:prstGeom prst="rect">
            <a:avLst/>
          </a:prstGeom>
          <a:noFill/>
          <a:ln/>
        </p:spPr>
        <p:txBody>
          <a:bodyPr wrap="square" lIns="0" tIns="0" rIns="0" bIns="0" rtlCol="0" anchor="ctr"/>
          <a:lstStyle/>
          <a:p>
            <a:pPr algn="ctr" indent="0" marL="0">
              <a:buNone/>
            </a:pPr>
            <a:r>
              <a:rPr lang="en-US" sz="3800" b="1" dirty="0">
                <a:solidFill>
                  <a:schemeClr val="accent1"/>
                </a:solidFill>
                <a:latin typeface="JetBrains Mono" pitchFamily="34" charset="0"/>
                <a:ea typeface="JetBrains Mono" pitchFamily="34" charset="-122"/>
                <a:cs typeface="JetBrains Mono" pitchFamily="34" charset="-120"/>
              </a:rPr>
              <a:t>0.93</a:t>
            </a:r>
            <a:endParaRPr lang="en-US" sz="3800" dirty="0"/>
          </a:p>
        </p:txBody>
      </p:sp>
      <p:sp>
        <p:nvSpPr>
          <p:cNvPr id="8" name="Text 5"/>
          <p:cNvSpPr txBox="1"/>
          <p:nvPr/>
        </p:nvSpPr>
        <p:spPr>
          <a:xfrm>
            <a:off x="822960" y="3429000"/>
            <a:ext cx="2121408" cy="640080"/>
          </a:xfrm>
          <a:prstGeom prst="rect">
            <a:avLst/>
          </a:prstGeom>
          <a:noFill/>
          <a:ln/>
        </p:spPr>
        <p:txBody>
          <a:bodyPr wrap="square" lIns="0" tIns="0" rIns="0" bIns="0" rtlCol="0" anchor="t"/>
          <a:lstStyle/>
          <a:p>
            <a:pPr algn="ctr" indent="0" marL="0">
              <a:buNone/>
            </a:pPr>
            <a:r>
              <a:rPr lang="en-US" sz="1300" dirty="0">
                <a:solidFill>
                  <a:schemeClr val="accent6"/>
                </a:solidFill>
              </a:rPr>
              <a:t>Precision</a:t>
            </a:r>
            <a:endParaRPr lang="en-US" sz="1300" dirty="0"/>
          </a:p>
        </p:txBody>
      </p:sp>
      <p:sp>
        <p:nvSpPr>
          <p:cNvPr id="9" name="Shape 6"/>
          <p:cNvSpPr/>
          <p:nvPr/>
        </p:nvSpPr>
        <p:spPr>
          <a:xfrm>
            <a:off x="3447288" y="2194560"/>
            <a:ext cx="2487168" cy="2103120"/>
          </a:xfrm>
          <a:prstGeom prst="roundRect">
            <a:avLst>
              <a:gd name="adj" fmla="val 6957"/>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0" name="Text 7"/>
          <p:cNvSpPr txBox="1"/>
          <p:nvPr/>
        </p:nvSpPr>
        <p:spPr>
          <a:xfrm>
            <a:off x="3447288" y="2468880"/>
            <a:ext cx="2487168" cy="822960"/>
          </a:xfrm>
          <a:prstGeom prst="rect">
            <a:avLst/>
          </a:prstGeom>
          <a:noFill/>
          <a:ln/>
        </p:spPr>
        <p:txBody>
          <a:bodyPr wrap="square" lIns="0" tIns="0" rIns="0" bIns="0" rtlCol="0" anchor="ctr"/>
          <a:lstStyle/>
          <a:p>
            <a:pPr algn="ctr" indent="0" marL="0">
              <a:buNone/>
            </a:pPr>
            <a:r>
              <a:rPr lang="en-US" sz="3800" b="1" dirty="0">
                <a:solidFill>
                  <a:schemeClr val="accent1"/>
                </a:solidFill>
                <a:latin typeface="JetBrains Mono" pitchFamily="34" charset="0"/>
                <a:ea typeface="JetBrains Mono" pitchFamily="34" charset="-122"/>
                <a:cs typeface="JetBrains Mono" pitchFamily="34" charset="-120"/>
              </a:rPr>
              <a:t>0.80</a:t>
            </a:r>
            <a:endParaRPr lang="en-US" sz="3800" dirty="0"/>
          </a:p>
        </p:txBody>
      </p:sp>
      <p:sp>
        <p:nvSpPr>
          <p:cNvPr id="11" name="Text 8"/>
          <p:cNvSpPr txBox="1"/>
          <p:nvPr/>
        </p:nvSpPr>
        <p:spPr>
          <a:xfrm>
            <a:off x="3630168" y="3429000"/>
            <a:ext cx="2121408" cy="640080"/>
          </a:xfrm>
          <a:prstGeom prst="rect">
            <a:avLst/>
          </a:prstGeom>
          <a:noFill/>
          <a:ln/>
        </p:spPr>
        <p:txBody>
          <a:bodyPr wrap="square" lIns="0" tIns="0" rIns="0" bIns="0" rtlCol="0" anchor="t"/>
          <a:lstStyle/>
          <a:p>
            <a:pPr algn="ctr" indent="0" marL="0">
              <a:buNone/>
            </a:pPr>
            <a:r>
              <a:rPr lang="en-US" sz="1300" dirty="0">
                <a:solidFill>
                  <a:schemeClr val="accent6"/>
                </a:solidFill>
              </a:rPr>
              <a:t>Recall</a:t>
            </a:r>
            <a:endParaRPr lang="en-US" sz="1300" dirty="0"/>
          </a:p>
        </p:txBody>
      </p:sp>
      <p:sp>
        <p:nvSpPr>
          <p:cNvPr id="12" name="Shape 9"/>
          <p:cNvSpPr/>
          <p:nvPr/>
        </p:nvSpPr>
        <p:spPr>
          <a:xfrm>
            <a:off x="6254496" y="2194560"/>
            <a:ext cx="2487168" cy="2103120"/>
          </a:xfrm>
          <a:prstGeom prst="roundRect">
            <a:avLst>
              <a:gd name="adj" fmla="val 6957"/>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3" name="Text 10"/>
          <p:cNvSpPr txBox="1"/>
          <p:nvPr/>
        </p:nvSpPr>
        <p:spPr>
          <a:xfrm>
            <a:off x="6254496" y="2468880"/>
            <a:ext cx="2487168" cy="822960"/>
          </a:xfrm>
          <a:prstGeom prst="rect">
            <a:avLst/>
          </a:prstGeom>
          <a:noFill/>
          <a:ln/>
        </p:spPr>
        <p:txBody>
          <a:bodyPr wrap="square" lIns="0" tIns="0" rIns="0" bIns="0" rtlCol="0" anchor="ctr"/>
          <a:lstStyle/>
          <a:p>
            <a:pPr algn="ctr" indent="0" marL="0">
              <a:buNone/>
            </a:pPr>
            <a:r>
              <a:rPr lang="en-US" sz="3800" b="1" dirty="0">
                <a:solidFill>
                  <a:schemeClr val="accent1"/>
                </a:solidFill>
                <a:latin typeface="JetBrains Mono" pitchFamily="34" charset="0"/>
                <a:ea typeface="JetBrains Mono" pitchFamily="34" charset="-122"/>
                <a:cs typeface="JetBrains Mono" pitchFamily="34" charset="-120"/>
              </a:rPr>
              <a:t>0.88</a:t>
            </a:r>
            <a:endParaRPr lang="en-US" sz="3800" dirty="0"/>
          </a:p>
        </p:txBody>
      </p:sp>
      <p:sp>
        <p:nvSpPr>
          <p:cNvPr id="14" name="Text 11"/>
          <p:cNvSpPr txBox="1"/>
          <p:nvPr/>
        </p:nvSpPr>
        <p:spPr>
          <a:xfrm>
            <a:off x="6437376" y="3429000"/>
            <a:ext cx="2121408" cy="640080"/>
          </a:xfrm>
          <a:prstGeom prst="rect">
            <a:avLst/>
          </a:prstGeom>
          <a:noFill/>
          <a:ln/>
        </p:spPr>
        <p:txBody>
          <a:bodyPr wrap="square" lIns="0" tIns="0" rIns="0" bIns="0" rtlCol="0" anchor="t"/>
          <a:lstStyle/>
          <a:p>
            <a:pPr algn="ctr" indent="0" marL="0">
              <a:buNone/>
            </a:pPr>
            <a:r>
              <a:rPr lang="en-US" sz="1300" dirty="0">
                <a:solidFill>
                  <a:schemeClr val="accent6"/>
                </a:solidFill>
              </a:rPr>
              <a:t>Cross-validated F1</a:t>
            </a:r>
            <a:endParaRPr lang="en-US" sz="1300" dirty="0"/>
          </a:p>
        </p:txBody>
      </p:sp>
      <p:sp>
        <p:nvSpPr>
          <p:cNvPr id="15" name="Shape 12"/>
          <p:cNvSpPr/>
          <p:nvPr/>
        </p:nvSpPr>
        <p:spPr>
          <a:xfrm>
            <a:off x="9061704" y="2194560"/>
            <a:ext cx="2487168" cy="2103120"/>
          </a:xfrm>
          <a:prstGeom prst="roundRect">
            <a:avLst>
              <a:gd name="adj" fmla="val 6957"/>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6" name="Text 13"/>
          <p:cNvSpPr txBox="1"/>
          <p:nvPr/>
        </p:nvSpPr>
        <p:spPr>
          <a:xfrm>
            <a:off x="9061704" y="2468880"/>
            <a:ext cx="2487168" cy="822960"/>
          </a:xfrm>
          <a:prstGeom prst="rect">
            <a:avLst/>
          </a:prstGeom>
          <a:noFill/>
          <a:ln/>
        </p:spPr>
        <p:txBody>
          <a:bodyPr wrap="square" lIns="0" tIns="0" rIns="0" bIns="0" rtlCol="0" anchor="ctr"/>
          <a:lstStyle/>
          <a:p>
            <a:pPr algn="ctr" indent="0" marL="0">
              <a:buNone/>
            </a:pPr>
            <a:r>
              <a:rPr lang="en-US" sz="3800" b="1" dirty="0">
                <a:solidFill>
                  <a:schemeClr val="accent3"/>
                </a:solidFill>
                <a:latin typeface="JetBrains Mono" pitchFamily="34" charset="0"/>
                <a:ea typeface="JetBrains Mono" pitchFamily="34" charset="-122"/>
                <a:cs typeface="JetBrains Mono" pitchFamily="34" charset="-120"/>
              </a:rPr>
              <a:t>10</a:t>
            </a:r>
            <a:endParaRPr lang="en-US" sz="3800" dirty="0"/>
          </a:p>
        </p:txBody>
      </p:sp>
      <p:sp>
        <p:nvSpPr>
          <p:cNvPr id="17" name="Text 14"/>
          <p:cNvSpPr txBox="1"/>
          <p:nvPr/>
        </p:nvSpPr>
        <p:spPr>
          <a:xfrm>
            <a:off x="9244584" y="3429000"/>
            <a:ext cx="2121408" cy="640080"/>
          </a:xfrm>
          <a:prstGeom prst="rect">
            <a:avLst/>
          </a:prstGeom>
          <a:noFill/>
          <a:ln/>
        </p:spPr>
        <p:txBody>
          <a:bodyPr wrap="square" lIns="0" tIns="0" rIns="0" bIns="0" rtlCol="0" anchor="t"/>
          <a:lstStyle/>
          <a:p>
            <a:pPr algn="ctr" indent="0" marL="0">
              <a:buNone/>
            </a:pPr>
            <a:r>
              <a:rPr lang="en-US" sz="1300" dirty="0">
                <a:solidFill>
                  <a:schemeClr val="accent6"/>
                </a:solidFill>
              </a:rPr>
              <a:t>False alarms out of 3,841</a:t>
            </a:r>
            <a:endParaRPr lang="en-US" sz="1300" dirty="0"/>
          </a:p>
        </p:txBody>
      </p:sp>
      <p:sp>
        <p:nvSpPr>
          <p:cNvPr id="18" name="Shape 15"/>
          <p:cNvSpPr/>
          <p:nvPr/>
        </p:nvSpPr>
        <p:spPr>
          <a:xfrm>
            <a:off x="640080" y="4572000"/>
            <a:ext cx="10908792" cy="1005840"/>
          </a:xfrm>
          <a:prstGeom prst="roundRect">
            <a:avLst>
              <a:gd name="adj" fmla="val 14545"/>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19" name="Text 16"/>
          <p:cNvSpPr txBox="1"/>
          <p:nvPr/>
        </p:nvSpPr>
        <p:spPr>
          <a:xfrm>
            <a:off x="1005840" y="4572000"/>
            <a:ext cx="10177272" cy="1005840"/>
          </a:xfrm>
          <a:prstGeom prst="rect">
            <a:avLst/>
          </a:prstGeom>
          <a:noFill/>
          <a:ln/>
        </p:spPr>
        <p:txBody>
          <a:bodyPr wrap="square" lIns="0" tIns="0" rIns="0" bIns="0" rtlCol="0" anchor="ctr"/>
          <a:lstStyle/>
          <a:p>
            <a:pPr indent="0" marL="0">
              <a:buNone/>
            </a:pPr>
            <a:r>
              <a:rPr lang="en-US" sz="1400" b="1" dirty="0">
                <a:solidFill>
                  <a:schemeClr val="tx2"/>
                </a:solidFill>
              </a:rPr>
              <a:t>Baseline Logistic Regression scored F1 0.61. Random Forest scored 0.86. The dataset is synthetic, stated openly.</a:t>
            </a:r>
            <a:endParaRPr lang="en-US" sz="1400" dirty="0"/>
          </a:p>
        </p:txBody>
      </p:sp>
      <p:sp>
        <p:nvSpPr>
          <p:cNvPr id="20" name="Shape 17"/>
          <p:cNvSpPr/>
          <p:nvPr/>
        </p:nvSpPr>
        <p:spPr>
          <a:xfrm>
            <a:off x="640080" y="5943600"/>
            <a:ext cx="36576" cy="594360"/>
          </a:xfrm>
          <a:prstGeom prst="rect">
            <a:avLst/>
          </a:prstGeom>
          <a:solidFill>
            <a:schemeClr val="accent1"/>
          </a:solidFill>
          <a:ln w="12700">
            <a:solidFill>
              <a:schemeClr val="accent1"/>
            </a:solidFill>
            <a:prstDash val="solid"/>
          </a:ln>
        </p:spPr>
      </p:sp>
      <p:sp>
        <p:nvSpPr>
          <p:cNvPr id="21" name="Shape 18"/>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22" name="Text 19"/>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23" name="Shape 20"/>
          <p:cNvSpPr/>
          <p:nvPr/>
        </p:nvSpPr>
        <p:spPr>
          <a:xfrm>
            <a:off x="1691640" y="5943600"/>
            <a:ext cx="0" cy="594360"/>
          </a:xfrm>
          <a:prstGeom prst="line">
            <a:avLst/>
          </a:prstGeom>
          <a:noFill/>
          <a:ln w="12700">
            <a:solidFill>
              <a:srgbClr val="BFD0DE"/>
            </a:solidFill>
            <a:prstDash val="solid"/>
          </a:ln>
        </p:spPr>
      </p:sp>
      <p:sp>
        <p:nvSpPr>
          <p:cNvPr id="24" name="Text 21"/>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Tested, not just claimed.</a:t>
            </a:r>
            <a:endParaRPr lang="en-US" sz="1500" dirty="0"/>
          </a:p>
          <a:p>
            <a:pPr indent="0" marL="0">
              <a:buNone/>
            </a:pPr>
            <a:r>
              <a:rPr lang="en-US" sz="1500" b="1" dirty="0">
                <a:solidFill>
                  <a:schemeClr val="accent1"/>
                </a:solidFill>
              </a:rPr>
              <a:t>Real numbers, honest limits.</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OPPORTUNITY AND IMPACT —</a:t>
            </a:r>
            <a:endParaRPr lang="en-US" sz="2800" dirty="0"/>
          </a:p>
          <a:p>
            <a:pPr indent="0" marL="0">
              <a:buNone/>
            </a:pPr>
            <a:r>
              <a:rPr lang="en-US" sz="2800" b="1" dirty="0">
                <a:solidFill>
                  <a:schemeClr val="accent1"/>
                </a:solidFill>
              </a:rPr>
              <a:t>WHO BENEFITS</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More reach, positive change and long-term growth.</a:t>
            </a:r>
            <a:endParaRPr lang="en-US" sz="1600" dirty="0"/>
          </a:p>
        </p:txBody>
      </p:sp>
      <p:sp>
        <p:nvSpPr>
          <p:cNvPr id="6" name="Shape 3"/>
          <p:cNvSpPr/>
          <p:nvPr/>
        </p:nvSpPr>
        <p:spPr>
          <a:xfrm>
            <a:off x="640080"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960120" y="2468880"/>
            <a:ext cx="594360" cy="594360"/>
          </a:xfrm>
          <a:prstGeom prst="ellipse">
            <a:avLst/>
          </a:prstGeom>
          <a:solidFill>
            <a:schemeClr val="accent2"/>
          </a:solidFill>
          <a:ln w="12700">
            <a:solidFill>
              <a:srgbClr val="BFE3E3"/>
            </a:solidFill>
            <a:prstDash val="solid"/>
          </a:ln>
        </p:spPr>
      </p:sp>
      <p:sp>
        <p:nvSpPr>
          <p:cNvPr id="8" name="Text 5"/>
          <p:cNvSpPr txBox="1"/>
          <p:nvPr/>
        </p:nvSpPr>
        <p:spPr>
          <a:xfrm>
            <a:off x="960120"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1</a:t>
            </a:r>
            <a:endParaRPr lang="en-US" sz="1500" dirty="0"/>
          </a:p>
        </p:txBody>
      </p:sp>
      <p:sp>
        <p:nvSpPr>
          <p:cNvPr id="9" name="Text 6"/>
          <p:cNvSpPr txBox="1"/>
          <p:nvPr/>
        </p:nvSpPr>
        <p:spPr>
          <a:xfrm>
            <a:off x="1691640"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Who benefits?</a:t>
            </a:r>
            <a:endParaRPr lang="en-US" sz="1600" dirty="0"/>
          </a:p>
        </p:txBody>
      </p:sp>
      <p:sp>
        <p:nvSpPr>
          <p:cNvPr id="10" name="Text 7"/>
          <p:cNvSpPr txBox="1"/>
          <p:nvPr/>
        </p:nvSpPr>
        <p:spPr>
          <a:xfrm>
            <a:off x="960120"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Online shoppers and customers</a:t>
            </a:r>
            <a:endParaRPr lang="en-US" sz="1300" dirty="0"/>
          </a:p>
          <a:p>
            <a:pPr marL="342900" indent="-342900">
              <a:spcAft>
                <a:spcPts val="700"/>
              </a:spcAft>
              <a:buSzPct val="100000"/>
              <a:buChar char="•"/>
            </a:pPr>
            <a:r>
              <a:rPr lang="en-US" sz="1300" dirty="0">
                <a:solidFill>
                  <a:schemeClr val="accent6"/>
                </a:solidFill>
              </a:rPr>
              <a:t>Banks and fintech platforms</a:t>
            </a:r>
            <a:endParaRPr lang="en-US" sz="1300" dirty="0"/>
          </a:p>
          <a:p>
            <a:pPr marL="342900" indent="-342900">
              <a:spcAft>
                <a:spcPts val="700"/>
              </a:spcAft>
              <a:buSzPct val="100000"/>
              <a:buChar char="•"/>
            </a:pPr>
            <a:r>
              <a:rPr lang="en-US" sz="1300" dirty="0">
                <a:solidFill>
                  <a:schemeClr val="accent6"/>
                </a:solidFill>
              </a:rPr>
              <a:t>Fraud analysts and reviewers</a:t>
            </a:r>
            <a:endParaRPr lang="en-US" sz="1300" dirty="0"/>
          </a:p>
        </p:txBody>
      </p:sp>
      <p:sp>
        <p:nvSpPr>
          <p:cNvPr id="11" name="Shape 8"/>
          <p:cNvSpPr/>
          <p:nvPr/>
        </p:nvSpPr>
        <p:spPr>
          <a:xfrm>
            <a:off x="4398264"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2" name="Shape 9"/>
          <p:cNvSpPr/>
          <p:nvPr/>
        </p:nvSpPr>
        <p:spPr>
          <a:xfrm>
            <a:off x="4718304" y="2468880"/>
            <a:ext cx="594360" cy="594360"/>
          </a:xfrm>
          <a:prstGeom prst="ellipse">
            <a:avLst/>
          </a:prstGeom>
          <a:solidFill>
            <a:schemeClr val="accent2"/>
          </a:solidFill>
          <a:ln w="12700">
            <a:solidFill>
              <a:srgbClr val="BFE3E3"/>
            </a:solidFill>
            <a:prstDash val="solid"/>
          </a:ln>
        </p:spPr>
      </p:sp>
      <p:sp>
        <p:nvSpPr>
          <p:cNvPr id="13" name="Text 10"/>
          <p:cNvSpPr txBox="1"/>
          <p:nvPr/>
        </p:nvSpPr>
        <p:spPr>
          <a:xfrm>
            <a:off x="4718304"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2</a:t>
            </a:r>
            <a:endParaRPr lang="en-US" sz="1500" dirty="0"/>
          </a:p>
        </p:txBody>
      </p:sp>
      <p:sp>
        <p:nvSpPr>
          <p:cNvPr id="14" name="Text 11"/>
          <p:cNvSpPr txBox="1"/>
          <p:nvPr/>
        </p:nvSpPr>
        <p:spPr>
          <a:xfrm>
            <a:off x="5449824"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What impact?</a:t>
            </a:r>
            <a:endParaRPr lang="en-US" sz="1600" dirty="0"/>
          </a:p>
        </p:txBody>
      </p:sp>
      <p:sp>
        <p:nvSpPr>
          <p:cNvPr id="15" name="Text 12"/>
          <p:cNvSpPr txBox="1"/>
          <p:nvPr/>
        </p:nvSpPr>
        <p:spPr>
          <a:xfrm>
            <a:off x="4718304"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Fewer undetected frauds</a:t>
            </a:r>
            <a:endParaRPr lang="en-US" sz="1300" dirty="0"/>
          </a:p>
          <a:p>
            <a:pPr marL="342900" indent="-342900">
              <a:spcAft>
                <a:spcPts val="700"/>
              </a:spcAft>
              <a:buSzPct val="100000"/>
              <a:buChar char="•"/>
            </a:pPr>
            <a:r>
              <a:rPr lang="en-US" sz="1300" dirty="0">
                <a:solidFill>
                  <a:schemeClr val="accent6"/>
                </a:solidFill>
              </a:rPr>
              <a:t>Faster, clearer decisions</a:t>
            </a:r>
            <a:endParaRPr lang="en-US" sz="1300" dirty="0"/>
          </a:p>
          <a:p>
            <a:pPr marL="342900" indent="-342900">
              <a:spcAft>
                <a:spcPts val="700"/>
              </a:spcAft>
              <a:buSzPct val="100000"/>
              <a:buChar char="•"/>
            </a:pPr>
            <a:r>
              <a:rPr lang="en-US" sz="1300" dirty="0">
                <a:solidFill>
                  <a:schemeClr val="accent6"/>
                </a:solidFill>
              </a:rPr>
              <a:t>Higher trust in online payments</a:t>
            </a:r>
            <a:endParaRPr lang="en-US" sz="1300" dirty="0"/>
          </a:p>
        </p:txBody>
      </p:sp>
      <p:sp>
        <p:nvSpPr>
          <p:cNvPr id="16" name="Shape 13"/>
          <p:cNvSpPr/>
          <p:nvPr/>
        </p:nvSpPr>
        <p:spPr>
          <a:xfrm>
            <a:off x="8156448"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7" name="Shape 14"/>
          <p:cNvSpPr/>
          <p:nvPr/>
        </p:nvSpPr>
        <p:spPr>
          <a:xfrm>
            <a:off x="8476488" y="2468880"/>
            <a:ext cx="594360" cy="594360"/>
          </a:xfrm>
          <a:prstGeom prst="ellipse">
            <a:avLst/>
          </a:prstGeom>
          <a:solidFill>
            <a:schemeClr val="accent2"/>
          </a:solidFill>
          <a:ln w="12700">
            <a:solidFill>
              <a:srgbClr val="BFE3E3"/>
            </a:solidFill>
            <a:prstDash val="solid"/>
          </a:ln>
        </p:spPr>
      </p:sp>
      <p:sp>
        <p:nvSpPr>
          <p:cNvPr id="18" name="Text 15"/>
          <p:cNvSpPr txBox="1"/>
          <p:nvPr/>
        </p:nvSpPr>
        <p:spPr>
          <a:xfrm>
            <a:off x="8476488"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3</a:t>
            </a:r>
            <a:endParaRPr lang="en-US" sz="1500" dirty="0"/>
          </a:p>
        </p:txBody>
      </p:sp>
      <p:sp>
        <p:nvSpPr>
          <p:cNvPr id="19" name="Text 16"/>
          <p:cNvSpPr txBox="1"/>
          <p:nvPr/>
        </p:nvSpPr>
        <p:spPr>
          <a:xfrm>
            <a:off x="9208008"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How do we grow?</a:t>
            </a:r>
            <a:endParaRPr lang="en-US" sz="1600" dirty="0"/>
          </a:p>
        </p:txBody>
      </p:sp>
      <p:sp>
        <p:nvSpPr>
          <p:cNvPr id="20" name="Text 17"/>
          <p:cNvSpPr txBox="1"/>
          <p:nvPr/>
        </p:nvSpPr>
        <p:spPr>
          <a:xfrm>
            <a:off x="8476488"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Validate on real anonymised data</a:t>
            </a:r>
            <a:endParaRPr lang="en-US" sz="1300" dirty="0"/>
          </a:p>
          <a:p>
            <a:pPr marL="342900" indent="-342900">
              <a:spcAft>
                <a:spcPts val="700"/>
              </a:spcAft>
              <a:buSzPct val="100000"/>
              <a:buChar char="•"/>
            </a:pPr>
            <a:r>
              <a:rPr lang="en-US" sz="1300" dirty="0">
                <a:solidFill>
                  <a:schemeClr val="accent6"/>
                </a:solidFill>
              </a:rPr>
              <a:t>Add live monitoring</a:t>
            </a:r>
            <a:endParaRPr lang="en-US" sz="1300" dirty="0"/>
          </a:p>
          <a:p>
            <a:pPr marL="342900" indent="-342900">
              <a:spcAft>
                <a:spcPts val="700"/>
              </a:spcAft>
              <a:buSzPct val="100000"/>
              <a:buChar char="•"/>
            </a:pPr>
            <a:r>
              <a:rPr lang="en-US" sz="1300" dirty="0">
                <a:solidFill>
                  <a:schemeClr val="accent6"/>
                </a:solidFill>
              </a:rPr>
              <a:t>Retrain on new fraud patterns</a:t>
            </a:r>
            <a:endParaRPr lang="en-US" sz="1300" dirty="0"/>
          </a:p>
        </p:txBody>
      </p:sp>
      <p:sp>
        <p:nvSpPr>
          <p:cNvPr id="21" name="Shape 18"/>
          <p:cNvSpPr/>
          <p:nvPr/>
        </p:nvSpPr>
        <p:spPr>
          <a:xfrm>
            <a:off x="640080" y="5166360"/>
            <a:ext cx="10908792" cy="548640"/>
          </a:xfrm>
          <a:prstGeom prst="roundRect">
            <a:avLst>
              <a:gd name="adj" fmla="val 26667"/>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22" name="Text 19"/>
          <p:cNvSpPr txBox="1"/>
          <p:nvPr/>
        </p:nvSpPr>
        <p:spPr>
          <a:xfrm>
            <a:off x="1005840" y="5166360"/>
            <a:ext cx="10177272" cy="548640"/>
          </a:xfrm>
          <a:prstGeom prst="rect">
            <a:avLst/>
          </a:prstGeom>
          <a:noFill/>
          <a:ln/>
        </p:spPr>
        <p:txBody>
          <a:bodyPr wrap="square" lIns="0" tIns="0" rIns="0" bIns="0" rtlCol="0" anchor="ctr"/>
          <a:lstStyle/>
          <a:p>
            <a:pPr indent="0" marL="0">
              <a:buNone/>
            </a:pPr>
            <a:r>
              <a:rPr lang="en-US" sz="1400" b="1" dirty="0">
                <a:solidFill>
                  <a:schemeClr val="tx2"/>
                </a:solidFill>
              </a:rPr>
              <a:t>Market size: [TODO add a sourced figure before presenting].</a:t>
            </a:r>
            <a:endParaRPr lang="en-US" sz="1400" dirty="0"/>
          </a:p>
        </p:txBody>
      </p:sp>
      <p:sp>
        <p:nvSpPr>
          <p:cNvPr id="23" name="Shape 20"/>
          <p:cNvSpPr/>
          <p:nvPr/>
        </p:nvSpPr>
        <p:spPr>
          <a:xfrm>
            <a:off x="640080" y="5943600"/>
            <a:ext cx="36576" cy="594360"/>
          </a:xfrm>
          <a:prstGeom prst="rect">
            <a:avLst/>
          </a:prstGeom>
          <a:solidFill>
            <a:schemeClr val="accent1"/>
          </a:solidFill>
          <a:ln w="12700">
            <a:solidFill>
              <a:schemeClr val="accent1"/>
            </a:solidFill>
            <a:prstDash val="solid"/>
          </a:ln>
        </p:spPr>
      </p:sp>
      <p:sp>
        <p:nvSpPr>
          <p:cNvPr id="24" name="Shape 21"/>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25" name="Text 22"/>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26" name="Shape 23"/>
          <p:cNvSpPr/>
          <p:nvPr/>
        </p:nvSpPr>
        <p:spPr>
          <a:xfrm>
            <a:off x="1691640" y="5943600"/>
            <a:ext cx="0" cy="594360"/>
          </a:xfrm>
          <a:prstGeom prst="line">
            <a:avLst/>
          </a:prstGeom>
          <a:noFill/>
          <a:ln w="12700">
            <a:solidFill>
              <a:srgbClr val="BFD0DE"/>
            </a:solidFill>
            <a:prstDash val="solid"/>
          </a:ln>
        </p:spPr>
      </p:sp>
      <p:sp>
        <p:nvSpPr>
          <p:cNvPr id="27" name="Text 24"/>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Bigger reach. Positive change.</a:t>
            </a:r>
            <a:endParaRPr lang="en-US" sz="1500" dirty="0"/>
          </a:p>
          <a:p>
            <a:pPr indent="0" marL="0">
              <a:buNone/>
            </a:pPr>
            <a:r>
              <a:rPr lang="en-US" sz="1500" b="1" dirty="0">
                <a:solidFill>
                  <a:schemeClr val="accent1"/>
                </a:solidFill>
              </a:rPr>
              <a:t>Long-term growth.</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BUSINESS MODEL —</a:t>
            </a:r>
            <a:endParaRPr lang="en-US" sz="2800" dirty="0"/>
          </a:p>
          <a:p>
            <a:pPr indent="0" marL="0">
              <a:buNone/>
            </a:pPr>
            <a:r>
              <a:rPr lang="en-US" sz="2800" b="1" dirty="0">
                <a:solidFill>
                  <a:schemeClr val="accent1"/>
                </a:solidFill>
              </a:rPr>
              <a:t>HOW IT COULD SUSTAIN ITSELF</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A proposed model for the idea. Not yet validated.</a:t>
            </a:r>
            <a:endParaRPr lang="en-US" sz="1600" dirty="0"/>
          </a:p>
        </p:txBody>
      </p:sp>
      <p:sp>
        <p:nvSpPr>
          <p:cNvPr id="6" name="Shape 3"/>
          <p:cNvSpPr/>
          <p:nvPr/>
        </p:nvSpPr>
        <p:spPr>
          <a:xfrm>
            <a:off x="640080"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960120" y="2468880"/>
            <a:ext cx="594360" cy="594360"/>
          </a:xfrm>
          <a:prstGeom prst="ellipse">
            <a:avLst/>
          </a:prstGeom>
          <a:solidFill>
            <a:schemeClr val="accent2"/>
          </a:solidFill>
          <a:ln w="12700">
            <a:solidFill>
              <a:srgbClr val="BFE3E3"/>
            </a:solidFill>
            <a:prstDash val="solid"/>
          </a:ln>
        </p:spPr>
      </p:sp>
      <p:sp>
        <p:nvSpPr>
          <p:cNvPr id="8" name="Text 5"/>
          <p:cNvSpPr txBox="1"/>
          <p:nvPr/>
        </p:nvSpPr>
        <p:spPr>
          <a:xfrm>
            <a:off x="960120"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1</a:t>
            </a:r>
            <a:endParaRPr lang="en-US" sz="1500" dirty="0"/>
          </a:p>
        </p:txBody>
      </p:sp>
      <p:sp>
        <p:nvSpPr>
          <p:cNvPr id="9" name="Text 6"/>
          <p:cNvSpPr txBox="1"/>
          <p:nvPr/>
        </p:nvSpPr>
        <p:spPr>
          <a:xfrm>
            <a:off x="1691640"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Revenue streams</a:t>
            </a:r>
            <a:endParaRPr lang="en-US" sz="1600" dirty="0"/>
          </a:p>
        </p:txBody>
      </p:sp>
      <p:sp>
        <p:nvSpPr>
          <p:cNvPr id="10" name="Text 7"/>
          <p:cNvSpPr txBox="1"/>
          <p:nvPr/>
        </p:nvSpPr>
        <p:spPr>
          <a:xfrm>
            <a:off x="960120"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API access for scoring</a:t>
            </a:r>
            <a:endParaRPr lang="en-US" sz="1300" dirty="0"/>
          </a:p>
          <a:p>
            <a:pPr marL="342900" indent="-342900">
              <a:spcAft>
                <a:spcPts val="700"/>
              </a:spcAft>
              <a:buSzPct val="100000"/>
              <a:buChar char="•"/>
            </a:pPr>
            <a:r>
              <a:rPr lang="en-US" sz="1300" dirty="0">
                <a:solidFill>
                  <a:schemeClr val="accent6"/>
                </a:solidFill>
              </a:rPr>
              <a:t>Dashboard subscription</a:t>
            </a:r>
            <a:endParaRPr lang="en-US" sz="1300" dirty="0"/>
          </a:p>
          <a:p>
            <a:pPr marL="342900" indent="-342900">
              <a:spcAft>
                <a:spcPts val="700"/>
              </a:spcAft>
              <a:buSzPct val="100000"/>
              <a:buChar char="•"/>
            </a:pPr>
            <a:r>
              <a:rPr lang="en-US" sz="1300" dirty="0">
                <a:solidFill>
                  <a:schemeClr val="accent6"/>
                </a:solidFill>
              </a:rPr>
              <a:t>Integration support</a:t>
            </a:r>
            <a:endParaRPr lang="en-US" sz="1300" dirty="0"/>
          </a:p>
        </p:txBody>
      </p:sp>
      <p:sp>
        <p:nvSpPr>
          <p:cNvPr id="11" name="Shape 8"/>
          <p:cNvSpPr/>
          <p:nvPr/>
        </p:nvSpPr>
        <p:spPr>
          <a:xfrm>
            <a:off x="4398264"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2" name="Shape 9"/>
          <p:cNvSpPr/>
          <p:nvPr/>
        </p:nvSpPr>
        <p:spPr>
          <a:xfrm>
            <a:off x="4718304" y="2468880"/>
            <a:ext cx="594360" cy="594360"/>
          </a:xfrm>
          <a:prstGeom prst="ellipse">
            <a:avLst/>
          </a:prstGeom>
          <a:solidFill>
            <a:schemeClr val="accent2"/>
          </a:solidFill>
          <a:ln w="12700">
            <a:solidFill>
              <a:srgbClr val="BFE3E3"/>
            </a:solidFill>
            <a:prstDash val="solid"/>
          </a:ln>
        </p:spPr>
      </p:sp>
      <p:sp>
        <p:nvSpPr>
          <p:cNvPr id="13" name="Text 10"/>
          <p:cNvSpPr txBox="1"/>
          <p:nvPr/>
        </p:nvSpPr>
        <p:spPr>
          <a:xfrm>
            <a:off x="4718304"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2</a:t>
            </a:r>
            <a:endParaRPr lang="en-US" sz="1500" dirty="0"/>
          </a:p>
        </p:txBody>
      </p:sp>
      <p:sp>
        <p:nvSpPr>
          <p:cNvPr id="14" name="Text 11"/>
          <p:cNvSpPr txBox="1"/>
          <p:nvPr/>
        </p:nvSpPr>
        <p:spPr>
          <a:xfrm>
            <a:off x="5449824"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Pricing strategy</a:t>
            </a:r>
            <a:endParaRPr lang="en-US" sz="1600" dirty="0"/>
          </a:p>
        </p:txBody>
      </p:sp>
      <p:sp>
        <p:nvSpPr>
          <p:cNvPr id="15" name="Text 12"/>
          <p:cNvSpPr txBox="1"/>
          <p:nvPr/>
        </p:nvSpPr>
        <p:spPr>
          <a:xfrm>
            <a:off x="4718304"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Per-transaction or tiered plans</a:t>
            </a:r>
            <a:endParaRPr lang="en-US" sz="1300" dirty="0"/>
          </a:p>
          <a:p>
            <a:pPr marL="342900" indent="-342900">
              <a:spcAft>
                <a:spcPts val="700"/>
              </a:spcAft>
              <a:buSzPct val="100000"/>
              <a:buChar char="•"/>
            </a:pPr>
            <a:r>
              <a:rPr lang="en-US" sz="1300" dirty="0">
                <a:solidFill>
                  <a:schemeClr val="accent6"/>
                </a:solidFill>
              </a:rPr>
              <a:t>Free tier for small teams</a:t>
            </a:r>
            <a:endParaRPr lang="en-US" sz="1300" dirty="0"/>
          </a:p>
          <a:p>
            <a:pPr marL="342900" indent="-342900">
              <a:spcAft>
                <a:spcPts val="700"/>
              </a:spcAft>
              <a:buSzPct val="100000"/>
              <a:buChar char="•"/>
            </a:pPr>
            <a:r>
              <a:rPr lang="en-US" sz="1300" dirty="0">
                <a:solidFill>
                  <a:schemeClr val="accent6"/>
                </a:solidFill>
              </a:rPr>
              <a:t>Pilot pricing for early partners</a:t>
            </a:r>
            <a:endParaRPr lang="en-US" sz="1300" dirty="0"/>
          </a:p>
        </p:txBody>
      </p:sp>
      <p:sp>
        <p:nvSpPr>
          <p:cNvPr id="16" name="Shape 13"/>
          <p:cNvSpPr/>
          <p:nvPr/>
        </p:nvSpPr>
        <p:spPr>
          <a:xfrm>
            <a:off x="8156448" y="2194560"/>
            <a:ext cx="3392424" cy="2743200"/>
          </a:xfrm>
          <a:prstGeom prst="roundRect">
            <a:avLst>
              <a:gd name="adj" fmla="val 5333"/>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7" name="Shape 14"/>
          <p:cNvSpPr/>
          <p:nvPr/>
        </p:nvSpPr>
        <p:spPr>
          <a:xfrm>
            <a:off x="8476488" y="2468880"/>
            <a:ext cx="594360" cy="594360"/>
          </a:xfrm>
          <a:prstGeom prst="ellipse">
            <a:avLst/>
          </a:prstGeom>
          <a:solidFill>
            <a:schemeClr val="accent2"/>
          </a:solidFill>
          <a:ln w="12700">
            <a:solidFill>
              <a:srgbClr val="BFE3E3"/>
            </a:solidFill>
            <a:prstDash val="solid"/>
          </a:ln>
        </p:spPr>
      </p:sp>
      <p:sp>
        <p:nvSpPr>
          <p:cNvPr id="18" name="Text 15"/>
          <p:cNvSpPr txBox="1"/>
          <p:nvPr/>
        </p:nvSpPr>
        <p:spPr>
          <a:xfrm>
            <a:off x="8476488"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3</a:t>
            </a:r>
            <a:endParaRPr lang="en-US" sz="1500" dirty="0"/>
          </a:p>
        </p:txBody>
      </p:sp>
      <p:sp>
        <p:nvSpPr>
          <p:cNvPr id="19" name="Text 16"/>
          <p:cNvSpPr txBox="1"/>
          <p:nvPr/>
        </p:nvSpPr>
        <p:spPr>
          <a:xfrm>
            <a:off x="9208008"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Key partners</a:t>
            </a:r>
            <a:endParaRPr lang="en-US" sz="1600" dirty="0"/>
          </a:p>
        </p:txBody>
      </p:sp>
      <p:sp>
        <p:nvSpPr>
          <p:cNvPr id="20" name="Text 17"/>
          <p:cNvSpPr txBox="1"/>
          <p:nvPr/>
        </p:nvSpPr>
        <p:spPr>
          <a:xfrm>
            <a:off x="8476488" y="3246120"/>
            <a:ext cx="2752344"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Payment platforms</a:t>
            </a:r>
            <a:endParaRPr lang="en-US" sz="1300" dirty="0"/>
          </a:p>
          <a:p>
            <a:pPr marL="342900" indent="-342900">
              <a:spcAft>
                <a:spcPts val="700"/>
              </a:spcAft>
              <a:buSzPct val="100000"/>
              <a:buChar char="•"/>
            </a:pPr>
            <a:r>
              <a:rPr lang="en-US" sz="1300" dirty="0">
                <a:solidFill>
                  <a:schemeClr val="accent6"/>
                </a:solidFill>
              </a:rPr>
              <a:t>Banks and fintech teams</a:t>
            </a:r>
            <a:endParaRPr lang="en-US" sz="1300" dirty="0"/>
          </a:p>
          <a:p>
            <a:pPr marL="342900" indent="-342900">
              <a:spcAft>
                <a:spcPts val="700"/>
              </a:spcAft>
              <a:buSzPct val="100000"/>
              <a:buChar char="•"/>
            </a:pPr>
            <a:r>
              <a:rPr lang="en-US" sz="1300" dirty="0">
                <a:solidFill>
                  <a:schemeClr val="accent6"/>
                </a:solidFill>
              </a:rPr>
              <a:t>Universities and mentors</a:t>
            </a:r>
            <a:endParaRPr lang="en-US" sz="1300" dirty="0"/>
          </a:p>
        </p:txBody>
      </p:sp>
      <p:sp>
        <p:nvSpPr>
          <p:cNvPr id="21" name="Shape 18"/>
          <p:cNvSpPr/>
          <p:nvPr/>
        </p:nvSpPr>
        <p:spPr>
          <a:xfrm>
            <a:off x="1005840" y="5212080"/>
            <a:ext cx="2377440" cy="457200"/>
          </a:xfrm>
          <a:prstGeom prst="roundRect">
            <a:avLst>
              <a:gd name="adj" fmla="val 50000"/>
            </a:avLst>
          </a:prstGeom>
          <a:solidFill>
            <a:schemeClr val="accent2"/>
          </a:solidFill>
          <a:ln w="6350">
            <a:solidFill>
              <a:schemeClr val="accent2"/>
            </a:solidFill>
            <a:prstDash val="solid"/>
          </a:ln>
        </p:spPr>
      </p:sp>
      <p:sp>
        <p:nvSpPr>
          <p:cNvPr id="22" name="Text 19"/>
          <p:cNvSpPr txBox="1"/>
          <p:nvPr/>
        </p:nvSpPr>
        <p:spPr>
          <a:xfrm>
            <a:off x="1005840" y="5212080"/>
            <a:ext cx="2377440" cy="457200"/>
          </a:xfrm>
          <a:prstGeom prst="rect">
            <a:avLst/>
          </a:prstGeom>
          <a:noFill/>
          <a:ln/>
        </p:spPr>
        <p:txBody>
          <a:bodyPr wrap="square" lIns="0" tIns="0" rIns="0" bIns="0" rtlCol="0" anchor="ctr"/>
          <a:lstStyle/>
          <a:p>
            <a:pPr algn="ctr" indent="0" marL="0">
              <a:buNone/>
            </a:pPr>
            <a:r>
              <a:rPr lang="en-US" sz="1300" b="1" dirty="0">
                <a:solidFill>
                  <a:schemeClr val="accent1"/>
                </a:solidFill>
              </a:rPr>
              <a:t>Customers</a:t>
            </a:r>
            <a:endParaRPr lang="en-US" sz="1300" dirty="0"/>
          </a:p>
        </p:txBody>
      </p:sp>
      <p:sp>
        <p:nvSpPr>
          <p:cNvPr id="23" name="Text 20"/>
          <p:cNvSpPr txBox="1"/>
          <p:nvPr/>
        </p:nvSpPr>
        <p:spPr>
          <a:xfrm>
            <a:off x="3383280" y="5212080"/>
            <a:ext cx="118872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4" name="Shape 21"/>
          <p:cNvSpPr/>
          <p:nvPr/>
        </p:nvSpPr>
        <p:spPr>
          <a:xfrm>
            <a:off x="4572000" y="5212080"/>
            <a:ext cx="2377440" cy="457200"/>
          </a:xfrm>
          <a:prstGeom prst="roundRect">
            <a:avLst>
              <a:gd name="adj" fmla="val 50000"/>
            </a:avLst>
          </a:prstGeom>
          <a:solidFill>
            <a:schemeClr val="accent2"/>
          </a:solidFill>
          <a:ln w="6350">
            <a:solidFill>
              <a:schemeClr val="accent2"/>
            </a:solidFill>
            <a:prstDash val="solid"/>
          </a:ln>
        </p:spPr>
      </p:sp>
      <p:sp>
        <p:nvSpPr>
          <p:cNvPr id="25" name="Text 22"/>
          <p:cNvSpPr txBox="1"/>
          <p:nvPr/>
        </p:nvSpPr>
        <p:spPr>
          <a:xfrm>
            <a:off x="4572000" y="5212080"/>
            <a:ext cx="2377440" cy="457200"/>
          </a:xfrm>
          <a:prstGeom prst="rect">
            <a:avLst/>
          </a:prstGeom>
          <a:noFill/>
          <a:ln/>
        </p:spPr>
        <p:txBody>
          <a:bodyPr wrap="square" lIns="0" tIns="0" rIns="0" bIns="0" rtlCol="0" anchor="ctr"/>
          <a:lstStyle/>
          <a:p>
            <a:pPr algn="ctr" indent="0" marL="0">
              <a:buNone/>
            </a:pPr>
            <a:r>
              <a:rPr lang="en-US" sz="1300" b="1" dirty="0">
                <a:solidFill>
                  <a:schemeClr val="accent1"/>
                </a:solidFill>
              </a:rPr>
              <a:t>Revenue</a:t>
            </a:r>
            <a:endParaRPr lang="en-US" sz="1300" dirty="0"/>
          </a:p>
        </p:txBody>
      </p:sp>
      <p:sp>
        <p:nvSpPr>
          <p:cNvPr id="26" name="Text 23"/>
          <p:cNvSpPr txBox="1"/>
          <p:nvPr/>
        </p:nvSpPr>
        <p:spPr>
          <a:xfrm>
            <a:off x="6949440" y="5212080"/>
            <a:ext cx="1188720" cy="457200"/>
          </a:xfrm>
          <a:prstGeom prst="rect">
            <a:avLst/>
          </a:prstGeom>
          <a:noFill/>
          <a:ln/>
        </p:spPr>
        <p:txBody>
          <a:bodyPr wrap="square" lIns="0" tIns="0" rIns="0" bIns="0" rtlCol="0" anchor="ctr"/>
          <a:lstStyle/>
          <a:p>
            <a:pPr algn="ctr" indent="0" marL="0">
              <a:buNone/>
            </a:pPr>
            <a:r>
              <a:rPr lang="en-US" sz="2200" b="1" dirty="0">
                <a:solidFill>
                  <a:schemeClr val="accent1"/>
                </a:solidFill>
              </a:rPr>
              <a:t>→</a:t>
            </a:r>
            <a:endParaRPr lang="en-US" sz="2200" dirty="0"/>
          </a:p>
        </p:txBody>
      </p:sp>
      <p:sp>
        <p:nvSpPr>
          <p:cNvPr id="27" name="Shape 24"/>
          <p:cNvSpPr/>
          <p:nvPr/>
        </p:nvSpPr>
        <p:spPr>
          <a:xfrm>
            <a:off x="8138160" y="5212080"/>
            <a:ext cx="2377440" cy="457200"/>
          </a:xfrm>
          <a:prstGeom prst="roundRect">
            <a:avLst>
              <a:gd name="adj" fmla="val 50000"/>
            </a:avLst>
          </a:prstGeom>
          <a:solidFill>
            <a:schemeClr val="accent2"/>
          </a:solidFill>
          <a:ln w="6350">
            <a:solidFill>
              <a:schemeClr val="accent2"/>
            </a:solidFill>
            <a:prstDash val="solid"/>
          </a:ln>
        </p:spPr>
      </p:sp>
      <p:sp>
        <p:nvSpPr>
          <p:cNvPr id="28" name="Text 25"/>
          <p:cNvSpPr txBox="1"/>
          <p:nvPr/>
        </p:nvSpPr>
        <p:spPr>
          <a:xfrm>
            <a:off x="8138160" y="5212080"/>
            <a:ext cx="2377440" cy="457200"/>
          </a:xfrm>
          <a:prstGeom prst="rect">
            <a:avLst/>
          </a:prstGeom>
          <a:noFill/>
          <a:ln/>
        </p:spPr>
        <p:txBody>
          <a:bodyPr wrap="square" lIns="0" tIns="0" rIns="0" bIns="0" rtlCol="0" anchor="ctr"/>
          <a:lstStyle/>
          <a:p>
            <a:pPr algn="ctr" indent="0" marL="0">
              <a:buNone/>
            </a:pPr>
            <a:r>
              <a:rPr lang="en-US" sz="1300" b="1" dirty="0">
                <a:solidFill>
                  <a:schemeClr val="accent1"/>
                </a:solidFill>
              </a:rPr>
              <a:t>Sustainability</a:t>
            </a:r>
            <a:endParaRPr lang="en-US" sz="1300" dirty="0"/>
          </a:p>
        </p:txBody>
      </p:sp>
      <p:sp>
        <p:nvSpPr>
          <p:cNvPr id="29" name="Shape 26"/>
          <p:cNvSpPr/>
          <p:nvPr/>
        </p:nvSpPr>
        <p:spPr>
          <a:xfrm>
            <a:off x="640080" y="5943600"/>
            <a:ext cx="36576" cy="594360"/>
          </a:xfrm>
          <a:prstGeom prst="rect">
            <a:avLst/>
          </a:prstGeom>
          <a:solidFill>
            <a:schemeClr val="accent1"/>
          </a:solidFill>
          <a:ln w="12700">
            <a:solidFill>
              <a:schemeClr val="accent1"/>
            </a:solidFill>
            <a:prstDash val="solid"/>
          </a:ln>
        </p:spPr>
      </p:sp>
      <p:sp>
        <p:nvSpPr>
          <p:cNvPr id="30" name="Shape 27"/>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31" name="Text 28"/>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32" name="Shape 29"/>
          <p:cNvSpPr/>
          <p:nvPr/>
        </p:nvSpPr>
        <p:spPr>
          <a:xfrm>
            <a:off x="1691640" y="5943600"/>
            <a:ext cx="0" cy="594360"/>
          </a:xfrm>
          <a:prstGeom prst="line">
            <a:avLst/>
          </a:prstGeom>
          <a:noFill/>
          <a:ln w="12700">
            <a:solidFill>
              <a:srgbClr val="BFD0DE"/>
            </a:solidFill>
            <a:prstDash val="solid"/>
          </a:ln>
        </p:spPr>
      </p:sp>
      <p:sp>
        <p:nvSpPr>
          <p:cNvPr id="33" name="Text 30"/>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Customers. Revenue. Sustainability.</a:t>
            </a:r>
            <a:endParaRPr lang="en-US" sz="1500" dirty="0"/>
          </a:p>
          <a:p>
            <a:pPr indent="0" marL="0">
              <a:buNone/>
            </a:pPr>
            <a:r>
              <a:rPr lang="en-US" sz="1500" b="1" dirty="0">
                <a:solidFill>
                  <a:schemeClr val="accent1"/>
                </a:solidFill>
              </a:rPr>
              <a:t>A clear path, to be validated.</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384048"/>
            <a:ext cx="822960" cy="45720"/>
          </a:xfrm>
          <a:prstGeom prst="rect">
            <a:avLst/>
          </a:prstGeom>
          <a:solidFill>
            <a:schemeClr val="accent1"/>
          </a:solidFill>
          <a:ln w="12700">
            <a:solidFill>
              <a:schemeClr val="accent1"/>
            </a:solidFill>
            <a:prstDash val="solid"/>
          </a:ln>
        </p:spPr>
      </p:sp>
      <p:sp>
        <p:nvSpPr>
          <p:cNvPr id="3"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r>
              <a:rPr lang="en-US" sz="2800" b="1" dirty="0">
                <a:solidFill>
                  <a:schemeClr val="tx2"/>
                </a:solidFill>
              </a:rPr>
              <a:t>THE BIG ASK —</a:t>
            </a:r>
            <a:endParaRPr lang="en-US" sz="2800" dirty="0"/>
          </a:p>
          <a:p>
            <a:pPr indent="0" marL="0">
              <a:buNone/>
            </a:pPr>
            <a:r>
              <a:rPr lang="en-US" sz="2800" b="1" dirty="0">
                <a:solidFill>
                  <a:schemeClr val="accent1"/>
                </a:solidFill>
              </a:rPr>
              <a:t>WHAT WE NEED FROM YOU</a:t>
            </a:r>
            <a:endParaRPr lang="en-US" sz="2800" dirty="0"/>
          </a:p>
        </p:txBody>
      </p:sp>
      <p:sp>
        <p:nvSpPr>
          <p:cNvPr id="4" name="Text 2"/>
          <p:cNvSpPr txBox="1"/>
          <p:nvPr/>
        </p:nvSpPr>
        <p:spPr>
          <a:xfrm>
            <a:off x="640080" y="1572768"/>
            <a:ext cx="10908792" cy="411480"/>
          </a:xfrm>
          <a:prstGeom prst="rect">
            <a:avLst/>
          </a:prstGeom>
          <a:noFill/>
          <a:ln/>
        </p:spPr>
        <p:txBody>
          <a:bodyPr wrap="square" lIns="0" tIns="0" rIns="0" bIns="0" rtlCol="0" anchor="t"/>
          <a:lstStyle/>
          <a:p>
            <a:pPr indent="0" marL="0">
              <a:buNone/>
            </a:pPr>
            <a:r>
              <a:rPr lang="en-US" sz="1600" dirty="0">
                <a:solidFill>
                  <a:schemeClr val="tx1"/>
                </a:solidFill>
              </a:rPr>
              <a:t>Support that helps us succeed.</a:t>
            </a:r>
            <a:endParaRPr lang="en-US" sz="1600" dirty="0"/>
          </a:p>
        </p:txBody>
      </p:sp>
      <p:sp>
        <p:nvSpPr>
          <p:cNvPr id="6" name="Shape 3"/>
          <p:cNvSpPr/>
          <p:nvPr/>
        </p:nvSpPr>
        <p:spPr>
          <a:xfrm>
            <a:off x="640080" y="2194560"/>
            <a:ext cx="3392424" cy="2560320"/>
          </a:xfrm>
          <a:prstGeom prst="roundRect">
            <a:avLst>
              <a:gd name="adj" fmla="val 5714"/>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7" name="Shape 4"/>
          <p:cNvSpPr/>
          <p:nvPr/>
        </p:nvSpPr>
        <p:spPr>
          <a:xfrm>
            <a:off x="960120" y="2468880"/>
            <a:ext cx="594360" cy="594360"/>
          </a:xfrm>
          <a:prstGeom prst="ellipse">
            <a:avLst/>
          </a:prstGeom>
          <a:solidFill>
            <a:schemeClr val="accent2"/>
          </a:solidFill>
          <a:ln w="12700">
            <a:solidFill>
              <a:srgbClr val="BFE3E3"/>
            </a:solidFill>
            <a:prstDash val="solid"/>
          </a:ln>
        </p:spPr>
      </p:sp>
      <p:sp>
        <p:nvSpPr>
          <p:cNvPr id="8" name="Text 5"/>
          <p:cNvSpPr txBox="1"/>
          <p:nvPr/>
        </p:nvSpPr>
        <p:spPr>
          <a:xfrm>
            <a:off x="960120"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1</a:t>
            </a:r>
            <a:endParaRPr lang="en-US" sz="1500" dirty="0"/>
          </a:p>
        </p:txBody>
      </p:sp>
      <p:sp>
        <p:nvSpPr>
          <p:cNvPr id="9" name="Text 6"/>
          <p:cNvSpPr txBox="1"/>
          <p:nvPr/>
        </p:nvSpPr>
        <p:spPr>
          <a:xfrm>
            <a:off x="1691640"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Data</a:t>
            </a:r>
            <a:endParaRPr lang="en-US" sz="1600" dirty="0"/>
          </a:p>
        </p:txBody>
      </p:sp>
      <p:sp>
        <p:nvSpPr>
          <p:cNvPr id="10" name="Text 7"/>
          <p:cNvSpPr txBox="1"/>
          <p:nvPr/>
        </p:nvSpPr>
        <p:spPr>
          <a:xfrm>
            <a:off x="960120" y="3246120"/>
            <a:ext cx="2752344" cy="13716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Anonymised real transaction data</a:t>
            </a:r>
            <a:endParaRPr lang="en-US" sz="1300" dirty="0"/>
          </a:p>
          <a:p>
            <a:pPr marL="342900" indent="-342900">
              <a:spcAft>
                <a:spcPts val="700"/>
              </a:spcAft>
              <a:buSzPct val="100000"/>
              <a:buChar char="•"/>
            </a:pPr>
            <a:r>
              <a:rPr lang="en-US" sz="1300" dirty="0">
                <a:solidFill>
                  <a:schemeClr val="accent6"/>
                </a:solidFill>
              </a:rPr>
              <a:t>To validate on real patterns</a:t>
            </a:r>
            <a:endParaRPr lang="en-US" sz="1300" dirty="0"/>
          </a:p>
        </p:txBody>
      </p:sp>
      <p:sp>
        <p:nvSpPr>
          <p:cNvPr id="11" name="Shape 8"/>
          <p:cNvSpPr/>
          <p:nvPr/>
        </p:nvSpPr>
        <p:spPr>
          <a:xfrm>
            <a:off x="4398264" y="2194560"/>
            <a:ext cx="3392424" cy="2560320"/>
          </a:xfrm>
          <a:prstGeom prst="roundRect">
            <a:avLst>
              <a:gd name="adj" fmla="val 5714"/>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2" name="Shape 9"/>
          <p:cNvSpPr/>
          <p:nvPr/>
        </p:nvSpPr>
        <p:spPr>
          <a:xfrm>
            <a:off x="4718304" y="2468880"/>
            <a:ext cx="594360" cy="594360"/>
          </a:xfrm>
          <a:prstGeom prst="ellipse">
            <a:avLst/>
          </a:prstGeom>
          <a:solidFill>
            <a:schemeClr val="accent2"/>
          </a:solidFill>
          <a:ln w="12700">
            <a:solidFill>
              <a:srgbClr val="BFE3E3"/>
            </a:solidFill>
            <a:prstDash val="solid"/>
          </a:ln>
        </p:spPr>
      </p:sp>
      <p:sp>
        <p:nvSpPr>
          <p:cNvPr id="13" name="Text 10"/>
          <p:cNvSpPr txBox="1"/>
          <p:nvPr/>
        </p:nvSpPr>
        <p:spPr>
          <a:xfrm>
            <a:off x="4718304"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2</a:t>
            </a:r>
            <a:endParaRPr lang="en-US" sz="1500" dirty="0"/>
          </a:p>
        </p:txBody>
      </p:sp>
      <p:sp>
        <p:nvSpPr>
          <p:cNvPr id="14" name="Text 11"/>
          <p:cNvSpPr txBox="1"/>
          <p:nvPr/>
        </p:nvSpPr>
        <p:spPr>
          <a:xfrm>
            <a:off x="5449824"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Guidance</a:t>
            </a:r>
            <a:endParaRPr lang="en-US" sz="1600" dirty="0"/>
          </a:p>
        </p:txBody>
      </p:sp>
      <p:sp>
        <p:nvSpPr>
          <p:cNvPr id="15" name="Text 12"/>
          <p:cNvSpPr txBox="1"/>
          <p:nvPr/>
        </p:nvSpPr>
        <p:spPr>
          <a:xfrm>
            <a:off x="4718304" y="3246120"/>
            <a:ext cx="2752344" cy="13716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Mentor feedback on the model</a:t>
            </a:r>
            <a:endParaRPr lang="en-US" sz="1300" dirty="0"/>
          </a:p>
          <a:p>
            <a:pPr marL="342900" indent="-342900">
              <a:spcAft>
                <a:spcPts val="700"/>
              </a:spcAft>
              <a:buSzPct val="100000"/>
              <a:buChar char="•"/>
            </a:pPr>
            <a:r>
              <a:rPr lang="en-US" sz="1300" dirty="0">
                <a:solidFill>
                  <a:schemeClr val="accent6"/>
                </a:solidFill>
              </a:rPr>
              <a:t>Review of our evaluation</a:t>
            </a:r>
            <a:endParaRPr lang="en-US" sz="1300" dirty="0"/>
          </a:p>
        </p:txBody>
      </p:sp>
      <p:sp>
        <p:nvSpPr>
          <p:cNvPr id="16" name="Shape 13"/>
          <p:cNvSpPr/>
          <p:nvPr/>
        </p:nvSpPr>
        <p:spPr>
          <a:xfrm>
            <a:off x="8156448" y="2194560"/>
            <a:ext cx="3392424" cy="2560320"/>
          </a:xfrm>
          <a:prstGeom prst="roundRect">
            <a:avLst>
              <a:gd name="adj" fmla="val 5714"/>
            </a:avLst>
          </a:prstGeom>
          <a:solidFill>
            <a:schemeClr val="bg1"/>
          </a:solidFill>
          <a:ln w="12700">
            <a:solidFill>
              <a:srgbClr val="D6EAEC"/>
            </a:solidFill>
            <a:prstDash val="solid"/>
          </a:ln>
          <a:effectLst>
            <a:outerShdw sx="100000" sy="100000" kx="0" ky="0" algn="bl" rotWithShape="0" blurRad="152400" dist="25400" dir="5400000">
              <a:srgbClr val="0B3B73">
                <a:alpha val="10000"/>
              </a:srgbClr>
            </a:outerShdw>
          </a:effectLst>
        </p:spPr>
      </p:sp>
      <p:sp>
        <p:nvSpPr>
          <p:cNvPr id="17" name="Shape 14"/>
          <p:cNvSpPr/>
          <p:nvPr/>
        </p:nvSpPr>
        <p:spPr>
          <a:xfrm>
            <a:off x="8476488" y="2468880"/>
            <a:ext cx="594360" cy="594360"/>
          </a:xfrm>
          <a:prstGeom prst="ellipse">
            <a:avLst/>
          </a:prstGeom>
          <a:solidFill>
            <a:schemeClr val="accent2"/>
          </a:solidFill>
          <a:ln w="12700">
            <a:solidFill>
              <a:srgbClr val="BFE3E3"/>
            </a:solidFill>
            <a:prstDash val="solid"/>
          </a:ln>
        </p:spPr>
      </p:sp>
      <p:sp>
        <p:nvSpPr>
          <p:cNvPr id="18" name="Text 15"/>
          <p:cNvSpPr txBox="1"/>
          <p:nvPr/>
        </p:nvSpPr>
        <p:spPr>
          <a:xfrm>
            <a:off x="8476488" y="2468880"/>
            <a:ext cx="594360" cy="594360"/>
          </a:xfrm>
          <a:prstGeom prst="rect">
            <a:avLst/>
          </a:prstGeom>
          <a:noFill/>
          <a:ln/>
        </p:spPr>
        <p:txBody>
          <a:bodyPr wrap="square" lIns="0" tIns="0" rIns="0" bIns="0" rtlCol="0" anchor="ctr"/>
          <a:lstStyle/>
          <a:p>
            <a:pPr algn="ctr" indent="0" marL="0">
              <a:buNone/>
            </a:pPr>
            <a:r>
              <a:rPr lang="en-US" sz="1500" b="1" dirty="0">
                <a:solidFill>
                  <a:schemeClr val="accent1"/>
                </a:solidFill>
                <a:latin typeface="JetBrains Mono" pitchFamily="34" charset="0"/>
                <a:ea typeface="JetBrains Mono" pitchFamily="34" charset="-122"/>
                <a:cs typeface="JetBrains Mono" pitchFamily="34" charset="-120"/>
              </a:rPr>
              <a:t>3</a:t>
            </a:r>
            <a:endParaRPr lang="en-US" sz="1500" dirty="0"/>
          </a:p>
        </p:txBody>
      </p:sp>
      <p:sp>
        <p:nvSpPr>
          <p:cNvPr id="19" name="Text 16"/>
          <p:cNvSpPr txBox="1"/>
          <p:nvPr/>
        </p:nvSpPr>
        <p:spPr>
          <a:xfrm>
            <a:off x="9208008" y="2468880"/>
            <a:ext cx="2112264" cy="594360"/>
          </a:xfrm>
          <a:prstGeom prst="rect">
            <a:avLst/>
          </a:prstGeom>
          <a:noFill/>
          <a:ln/>
        </p:spPr>
        <p:txBody>
          <a:bodyPr wrap="square" lIns="0" tIns="0" rIns="0" bIns="0" rtlCol="0" anchor="ctr"/>
          <a:lstStyle/>
          <a:p>
            <a:pPr indent="0" marL="0">
              <a:buNone/>
            </a:pPr>
            <a:r>
              <a:rPr lang="en-US" sz="1600" b="1" dirty="0">
                <a:solidFill>
                  <a:schemeClr val="tx2"/>
                </a:solidFill>
              </a:rPr>
              <a:t>Test environment</a:t>
            </a:r>
            <a:endParaRPr lang="en-US" sz="1600" dirty="0"/>
          </a:p>
        </p:txBody>
      </p:sp>
      <p:sp>
        <p:nvSpPr>
          <p:cNvPr id="20" name="Text 17"/>
          <p:cNvSpPr txBox="1"/>
          <p:nvPr/>
        </p:nvSpPr>
        <p:spPr>
          <a:xfrm>
            <a:off x="8476488" y="3246120"/>
            <a:ext cx="2752344" cy="13716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chemeClr val="accent6"/>
                </a:solidFill>
              </a:rPr>
              <a:t>A safe sandbox for a pilot</a:t>
            </a:r>
            <a:endParaRPr lang="en-US" sz="1300" dirty="0"/>
          </a:p>
          <a:p>
            <a:pPr marL="342900" indent="-342900">
              <a:spcAft>
                <a:spcPts val="700"/>
              </a:spcAft>
              <a:buSzPct val="100000"/>
              <a:buChar char="•"/>
            </a:pPr>
            <a:r>
              <a:rPr lang="en-US" sz="1300" dirty="0">
                <a:solidFill>
                  <a:schemeClr val="accent6"/>
                </a:solidFill>
              </a:rPr>
              <a:t>Cloud hosting for the demo</a:t>
            </a:r>
            <a:endParaRPr lang="en-US" sz="1300" dirty="0"/>
          </a:p>
        </p:txBody>
      </p:sp>
      <p:sp>
        <p:nvSpPr>
          <p:cNvPr id="21" name="Shape 18"/>
          <p:cNvSpPr/>
          <p:nvPr/>
        </p:nvSpPr>
        <p:spPr>
          <a:xfrm>
            <a:off x="640080" y="4983480"/>
            <a:ext cx="10908792" cy="731520"/>
          </a:xfrm>
          <a:prstGeom prst="roundRect">
            <a:avLst>
              <a:gd name="adj" fmla="val 20000"/>
            </a:avLst>
          </a:prstGeom>
          <a:solidFill>
            <a:schemeClr val="accent2"/>
          </a:solidFill>
          <a:ln w="12700">
            <a:solidFill>
              <a:srgbClr val="BFE3E3"/>
            </a:solidFill>
            <a:prstDash val="solid"/>
          </a:ln>
          <a:effectLst>
            <a:outerShdw sx="100000" sy="100000" kx="0" ky="0" algn="bl" rotWithShape="0" blurRad="152400" dist="25400" dir="5400000">
              <a:srgbClr val="0B3B73">
                <a:alpha val="10000"/>
              </a:srgbClr>
            </a:outerShdw>
          </a:effectLst>
        </p:spPr>
      </p:sp>
      <p:sp>
        <p:nvSpPr>
          <p:cNvPr id="22" name="Text 19"/>
          <p:cNvSpPr txBox="1"/>
          <p:nvPr/>
        </p:nvSpPr>
        <p:spPr>
          <a:xfrm>
            <a:off x="1005840" y="4983480"/>
            <a:ext cx="10177272" cy="731520"/>
          </a:xfrm>
          <a:prstGeom prst="rect">
            <a:avLst/>
          </a:prstGeom>
          <a:noFill/>
          <a:ln/>
        </p:spPr>
        <p:txBody>
          <a:bodyPr wrap="square" lIns="0" tIns="0" rIns="0" bIns="0" rtlCol="0" anchor="ctr"/>
          <a:lstStyle/>
          <a:p>
            <a:pPr indent="0" marL="0">
              <a:buNone/>
            </a:pPr>
            <a:r>
              <a:rPr lang="en-US" sz="1400" b="1" dirty="0">
                <a:solidFill>
                  <a:schemeClr val="tx2"/>
                </a:solidFill>
              </a:rPr>
              <a:t>We are seeking mentorship and an anonymised dataset to help us validate on real data and reach a pilot.</a:t>
            </a:r>
            <a:endParaRPr lang="en-US" sz="1400" dirty="0"/>
          </a:p>
        </p:txBody>
      </p:sp>
      <p:sp>
        <p:nvSpPr>
          <p:cNvPr id="23" name="Shape 20"/>
          <p:cNvSpPr/>
          <p:nvPr/>
        </p:nvSpPr>
        <p:spPr>
          <a:xfrm>
            <a:off x="640080" y="5943600"/>
            <a:ext cx="36576" cy="594360"/>
          </a:xfrm>
          <a:prstGeom prst="rect">
            <a:avLst/>
          </a:prstGeom>
          <a:solidFill>
            <a:schemeClr val="accent1"/>
          </a:solidFill>
          <a:ln w="12700">
            <a:solidFill>
              <a:schemeClr val="accent1"/>
            </a:solidFill>
            <a:prstDash val="solid"/>
          </a:ln>
        </p:spPr>
      </p:sp>
      <p:sp>
        <p:nvSpPr>
          <p:cNvPr id="24" name="Shape 21"/>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25" name="Text 22"/>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26" name="Shape 23"/>
          <p:cNvSpPr/>
          <p:nvPr/>
        </p:nvSpPr>
        <p:spPr>
          <a:xfrm>
            <a:off x="1691640" y="5943600"/>
            <a:ext cx="0" cy="594360"/>
          </a:xfrm>
          <a:prstGeom prst="line">
            <a:avLst/>
          </a:prstGeom>
          <a:noFill/>
          <a:ln w="12700">
            <a:solidFill>
              <a:srgbClr val="BFD0DE"/>
            </a:solidFill>
            <a:prstDash val="solid"/>
          </a:ln>
        </p:spPr>
      </p:sp>
      <p:sp>
        <p:nvSpPr>
          <p:cNvPr id="27" name="Text 24"/>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Support. Data. Guidance.</a:t>
            </a:r>
            <a:endParaRPr lang="en-US" sz="1500" dirty="0"/>
          </a:p>
          <a:p>
            <a:pPr indent="0" marL="0">
              <a:buNone/>
            </a:pPr>
            <a:r>
              <a:rPr lang="en-US" sz="1500" b="1" dirty="0">
                <a:solidFill>
                  <a:schemeClr val="accent1"/>
                </a:solidFill>
              </a:rPr>
              <a:t>Help us reach a real pilot.</a:t>
            </a:r>
            <a:endParaRPr lang="en-US" sz="15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7863840" y="1097280"/>
            <a:ext cx="3657600" cy="3657600"/>
          </a:xfrm>
          <a:prstGeom prst="ellipse">
            <a:avLst/>
          </a:prstGeom>
          <a:solidFill>
            <a:schemeClr val="accent2"/>
          </a:solidFill>
          <a:ln w="19050">
            <a:solidFill>
              <a:srgbClr val="BFE3E3"/>
            </a:solidFill>
            <a:prstDash val="dash"/>
          </a:ln>
        </p:spPr>
      </p:sp>
      <p:sp>
        <p:nvSpPr>
          <p:cNvPr id="4" name="Shape 1"/>
          <p:cNvSpPr/>
          <p:nvPr/>
        </p:nvSpPr>
        <p:spPr>
          <a:xfrm>
            <a:off x="8503920" y="1188720"/>
            <a:ext cx="2377440" cy="4873752"/>
          </a:xfrm>
          <a:prstGeom prst="roundRect">
            <a:avLst>
              <a:gd name="adj" fmla="val 6154"/>
            </a:avLst>
          </a:prstGeom>
          <a:solidFill>
            <a:schemeClr val="tx2"/>
          </a:solidFill>
          <a:ln w="12700">
            <a:solidFill>
              <a:schemeClr val="tx2"/>
            </a:solidFill>
            <a:prstDash val="solid"/>
          </a:ln>
          <a:effectLst>
            <a:outerShdw sx="100000" sy="100000" kx="0" ky="0" algn="bl" rotWithShape="0" blurRad="152400" dist="25400" dir="5400000">
              <a:srgbClr val="0B3B73">
                <a:alpha val="10000"/>
              </a:srgbClr>
            </a:outerShdw>
          </a:effectLst>
        </p:spPr>
      </p:sp>
      <p:sp>
        <p:nvSpPr>
          <p:cNvPr id="5" name="Shape 2"/>
          <p:cNvSpPr/>
          <p:nvPr/>
        </p:nvSpPr>
        <p:spPr>
          <a:xfrm>
            <a:off x="8591510" y="1276310"/>
            <a:ext cx="2202260" cy="4698572"/>
          </a:xfrm>
          <a:prstGeom prst="roundRect">
            <a:avLst>
              <a:gd name="adj" fmla="val 12500"/>
            </a:avLst>
          </a:prstGeom>
          <a:solidFill>
            <a:srgbClr val="FFFFFF"/>
          </a:solidFill>
          <a:ln w="6350">
            <a:solidFill>
              <a:srgbClr val="FFFFFF"/>
            </a:solidFill>
            <a:prstDash val="solid"/>
          </a:ln>
        </p:spPr>
      </p:sp>
      <p:sp>
        <p:nvSpPr>
          <p:cNvPr id="6" name="Shape 3"/>
          <p:cNvSpPr/>
          <p:nvPr/>
        </p:nvSpPr>
        <p:spPr>
          <a:xfrm>
            <a:off x="9379819" y="1351387"/>
            <a:ext cx="625642" cy="125128"/>
          </a:xfrm>
          <a:prstGeom prst="roundRect">
            <a:avLst>
              <a:gd name="adj" fmla="val 50000"/>
            </a:avLst>
          </a:prstGeom>
          <a:solidFill>
            <a:schemeClr val="tx2"/>
          </a:solidFill>
          <a:ln w="6350">
            <a:solidFill>
              <a:schemeClr val="tx2"/>
            </a:solidFill>
            <a:prstDash val="solid"/>
          </a:ln>
        </p:spPr>
      </p:sp>
      <p:sp>
        <p:nvSpPr>
          <p:cNvPr id="7" name="Text 4"/>
          <p:cNvSpPr txBox="1"/>
          <p:nvPr/>
        </p:nvSpPr>
        <p:spPr>
          <a:xfrm>
            <a:off x="8779203" y="1689234"/>
            <a:ext cx="1826875" cy="312821"/>
          </a:xfrm>
          <a:prstGeom prst="rect">
            <a:avLst/>
          </a:prstGeom>
          <a:noFill/>
          <a:ln/>
        </p:spPr>
        <p:txBody>
          <a:bodyPr wrap="square" lIns="0" tIns="0" rIns="0" bIns="0" rtlCol="0" anchor="t"/>
          <a:lstStyle/>
          <a:p>
            <a:pPr indent="0" marL="0">
              <a:buNone/>
            </a:pPr>
            <a:r>
              <a:rPr lang="en-US" sz="1400" b="1" dirty="0">
                <a:solidFill>
                  <a:schemeClr val="accent1"/>
                </a:solidFill>
              </a:rPr>
              <a:t>Transaction result</a:t>
            </a:r>
            <a:endParaRPr lang="en-US" sz="1400" dirty="0"/>
          </a:p>
        </p:txBody>
      </p:sp>
      <p:sp>
        <p:nvSpPr>
          <p:cNvPr id="8" name="Text 5"/>
          <p:cNvSpPr txBox="1"/>
          <p:nvPr/>
        </p:nvSpPr>
        <p:spPr>
          <a:xfrm>
            <a:off x="8779203" y="2189747"/>
            <a:ext cx="1826875" cy="625642"/>
          </a:xfrm>
          <a:prstGeom prst="rect">
            <a:avLst/>
          </a:prstGeom>
          <a:noFill/>
          <a:ln/>
        </p:spPr>
        <p:txBody>
          <a:bodyPr wrap="square" lIns="0" tIns="0" rIns="0" bIns="0" rtlCol="0" anchor="t"/>
          <a:lstStyle/>
          <a:p>
            <a:pPr indent="0" marL="0">
              <a:buNone/>
            </a:pPr>
            <a:r>
              <a:rPr lang="en-US" sz="3600" b="1" dirty="0">
                <a:solidFill>
                  <a:srgbClr val="047857"/>
                </a:solidFill>
                <a:latin typeface="JetBrains Mono" pitchFamily="34" charset="0"/>
                <a:ea typeface="JetBrains Mono" pitchFamily="34" charset="-122"/>
                <a:cs typeface="JetBrains Mono" pitchFamily="34" charset="-120"/>
              </a:rPr>
              <a:t>0.08</a:t>
            </a:r>
            <a:endParaRPr lang="en-US" sz="3600" dirty="0"/>
          </a:p>
        </p:txBody>
      </p:sp>
      <p:sp>
        <p:nvSpPr>
          <p:cNvPr id="9" name="Shape 6"/>
          <p:cNvSpPr/>
          <p:nvPr/>
        </p:nvSpPr>
        <p:spPr>
          <a:xfrm>
            <a:off x="8779203" y="3003082"/>
            <a:ext cx="1438977" cy="350360"/>
          </a:xfrm>
          <a:prstGeom prst="roundRect">
            <a:avLst>
              <a:gd name="adj" fmla="val 50000"/>
            </a:avLst>
          </a:prstGeom>
          <a:solidFill>
            <a:srgbClr val="D1FAE5"/>
          </a:solidFill>
          <a:ln w="6350">
            <a:solidFill>
              <a:srgbClr val="D1FAE5"/>
            </a:solidFill>
            <a:prstDash val="solid"/>
          </a:ln>
        </p:spPr>
      </p:sp>
      <p:sp>
        <p:nvSpPr>
          <p:cNvPr id="10" name="Text 7"/>
          <p:cNvSpPr txBox="1"/>
          <p:nvPr/>
        </p:nvSpPr>
        <p:spPr>
          <a:xfrm>
            <a:off x="8779203" y="3003082"/>
            <a:ext cx="1438977" cy="350360"/>
          </a:xfrm>
          <a:prstGeom prst="rect">
            <a:avLst/>
          </a:prstGeom>
          <a:noFill/>
          <a:ln/>
        </p:spPr>
        <p:txBody>
          <a:bodyPr wrap="square" lIns="0" tIns="0" rIns="0" bIns="0" rtlCol="0" anchor="ctr"/>
          <a:lstStyle/>
          <a:p>
            <a:pPr algn="ctr" indent="0" marL="0">
              <a:buNone/>
            </a:pPr>
            <a:r>
              <a:rPr lang="en-US" sz="1400" b="1" dirty="0">
                <a:solidFill>
                  <a:srgbClr val="047857"/>
                </a:solidFill>
              </a:rPr>
              <a:t>LOW RISK</a:t>
            </a:r>
            <a:endParaRPr lang="en-US" sz="1400" dirty="0"/>
          </a:p>
        </p:txBody>
      </p:sp>
      <p:sp>
        <p:nvSpPr>
          <p:cNvPr id="11" name="Shape 8"/>
          <p:cNvSpPr/>
          <p:nvPr/>
        </p:nvSpPr>
        <p:spPr>
          <a:xfrm>
            <a:off x="8779203" y="3628724"/>
            <a:ext cx="1826875" cy="150154"/>
          </a:xfrm>
          <a:prstGeom prst="roundRect">
            <a:avLst>
              <a:gd name="adj" fmla="val 50000"/>
            </a:avLst>
          </a:prstGeom>
          <a:solidFill>
            <a:srgbClr val="E3EAF5"/>
          </a:solidFill>
          <a:ln w="6350">
            <a:solidFill>
              <a:srgbClr val="E3EAF5"/>
            </a:solidFill>
            <a:prstDash val="solid"/>
          </a:ln>
        </p:spPr>
      </p:sp>
      <p:sp>
        <p:nvSpPr>
          <p:cNvPr id="12" name="Shape 9"/>
          <p:cNvSpPr/>
          <p:nvPr/>
        </p:nvSpPr>
        <p:spPr>
          <a:xfrm>
            <a:off x="8779203" y="3628724"/>
            <a:ext cx="146150" cy="150154"/>
          </a:xfrm>
          <a:prstGeom prst="roundRect">
            <a:avLst>
              <a:gd name="adj" fmla="val 51370"/>
            </a:avLst>
          </a:prstGeom>
          <a:solidFill>
            <a:srgbClr val="10B981"/>
          </a:solidFill>
          <a:ln w="6350">
            <a:solidFill>
              <a:srgbClr val="10B981"/>
            </a:solidFill>
            <a:prstDash val="solid"/>
          </a:ln>
        </p:spPr>
      </p:sp>
      <p:sp>
        <p:nvSpPr>
          <p:cNvPr id="13" name="Text 10"/>
          <p:cNvSpPr txBox="1"/>
          <p:nvPr/>
        </p:nvSpPr>
        <p:spPr>
          <a:xfrm>
            <a:off x="8779203" y="4066674"/>
            <a:ext cx="1826875" cy="875899"/>
          </a:xfrm>
          <a:prstGeom prst="rect">
            <a:avLst/>
          </a:prstGeom>
          <a:noFill/>
          <a:ln/>
        </p:spPr>
        <p:txBody>
          <a:bodyPr wrap="square" lIns="0" tIns="0" rIns="0" bIns="0" rtlCol="0" anchor="t"/>
          <a:lstStyle/>
          <a:p>
            <a:pPr indent="0" marL="0">
              <a:spcAft>
                <a:spcPts val="300"/>
              </a:spcAft>
              <a:buNone/>
            </a:pPr>
            <a:r>
              <a:rPr lang="en-US" sz="1400" dirty="0">
                <a:solidFill>
                  <a:schemeClr val="accent6"/>
                </a:solidFill>
              </a:rPr>
              <a:t>₹1,200 · 2 PM</a:t>
            </a:r>
            <a:endParaRPr lang="en-US" sz="1400" dirty="0"/>
          </a:p>
          <a:p>
            <a:pPr indent="0" marL="0">
              <a:spcAft>
                <a:spcPts val="300"/>
              </a:spcAft>
              <a:buNone/>
            </a:pPr>
            <a:r>
              <a:rPr lang="en-US" sz="1400" dirty="0">
                <a:solidFill>
                  <a:schemeClr val="accent6"/>
                </a:solidFill>
              </a:rPr>
              <a:t>Known device</a:t>
            </a:r>
            <a:endParaRPr lang="en-US" sz="1400" dirty="0"/>
          </a:p>
        </p:txBody>
      </p:sp>
      <p:sp>
        <p:nvSpPr>
          <p:cNvPr id="14" name="Shape 11"/>
          <p:cNvSpPr/>
          <p:nvPr/>
        </p:nvSpPr>
        <p:spPr>
          <a:xfrm>
            <a:off x="640080" y="1188720"/>
            <a:ext cx="822960" cy="45720"/>
          </a:xfrm>
          <a:prstGeom prst="rect">
            <a:avLst/>
          </a:prstGeom>
          <a:solidFill>
            <a:schemeClr val="accent1"/>
          </a:solidFill>
          <a:ln w="12700">
            <a:solidFill>
              <a:schemeClr val="accent1"/>
            </a:solidFill>
            <a:prstDash val="solid"/>
          </a:ln>
        </p:spPr>
      </p:sp>
      <p:sp>
        <p:nvSpPr>
          <p:cNvPr id="15" name="Text 12"/>
          <p:cNvSpPr txBox="1"/>
          <p:nvPr/>
        </p:nvSpPr>
        <p:spPr>
          <a:xfrm>
            <a:off x="640080" y="1371600"/>
            <a:ext cx="6858000" cy="1554480"/>
          </a:xfrm>
          <a:prstGeom prst="rect">
            <a:avLst/>
          </a:prstGeom>
          <a:noFill/>
          <a:ln/>
        </p:spPr>
        <p:txBody>
          <a:bodyPr wrap="square" lIns="0" tIns="0" rIns="0" bIns="0" rtlCol="0" anchor="t"/>
          <a:lstStyle/>
          <a:p>
            <a:pPr indent="0" marL="0">
              <a:buNone/>
            </a:pPr>
            <a:r>
              <a:rPr lang="en-US" sz="4000" b="1" dirty="0">
                <a:solidFill>
                  <a:schemeClr val="tx2"/>
                </a:solidFill>
              </a:rPr>
              <a:t>THANK YOU</a:t>
            </a:r>
            <a:endParaRPr lang="en-US" sz="4000" dirty="0"/>
          </a:p>
          <a:p>
            <a:pPr indent="0" marL="0">
              <a:buNone/>
            </a:pPr>
            <a:r>
              <a:rPr lang="en-US" sz="4000" b="1" dirty="0">
                <a:solidFill>
                  <a:schemeClr val="accent1"/>
                </a:solidFill>
              </a:rPr>
              <a:t>QUESTIONS?</a:t>
            </a:r>
            <a:endParaRPr lang="en-US" sz="4000" dirty="0"/>
          </a:p>
        </p:txBody>
      </p:sp>
      <p:sp>
        <p:nvSpPr>
          <p:cNvPr id="16" name="Text 13"/>
          <p:cNvSpPr txBox="1"/>
          <p:nvPr/>
        </p:nvSpPr>
        <p:spPr>
          <a:xfrm>
            <a:off x="640080" y="3108960"/>
            <a:ext cx="6766560" cy="822960"/>
          </a:xfrm>
          <a:prstGeom prst="rect">
            <a:avLst/>
          </a:prstGeom>
          <a:noFill/>
          <a:ln/>
        </p:spPr>
        <p:txBody>
          <a:bodyPr wrap="square" lIns="0" tIns="0" rIns="0" bIns="0" rtlCol="0" anchor="t"/>
          <a:lstStyle/>
          <a:p>
            <a:pPr indent="0" marL="0">
              <a:buNone/>
            </a:pPr>
            <a:r>
              <a:rPr lang="en-US" sz="1600" b="1" dirty="0">
                <a:solidFill>
                  <a:schemeClr val="tx2"/>
                </a:solidFill>
              </a:rPr>
              <a:t>Our goal is not just to build a model, but to make online payments safer for everyone.</a:t>
            </a:r>
            <a:endParaRPr lang="en-US" sz="1600" dirty="0"/>
          </a:p>
        </p:txBody>
      </p:sp>
      <p:sp>
        <p:nvSpPr>
          <p:cNvPr id="17" name="Text 14"/>
          <p:cNvSpPr txBox="1"/>
          <p:nvPr/>
        </p:nvSpPr>
        <p:spPr>
          <a:xfrm>
            <a:off x="640080" y="4023360"/>
            <a:ext cx="6766560" cy="365760"/>
          </a:xfrm>
          <a:prstGeom prst="rect">
            <a:avLst/>
          </a:prstGeom>
          <a:noFill/>
          <a:ln/>
        </p:spPr>
        <p:txBody>
          <a:bodyPr wrap="square" lIns="0" tIns="0" rIns="0" bIns="0" rtlCol="0" anchor="t"/>
          <a:lstStyle/>
          <a:p>
            <a:pPr indent="0" marL="0">
              <a:buNone/>
            </a:pPr>
            <a:r>
              <a:rPr lang="en-US" sz="1500" dirty="0">
                <a:solidFill>
                  <a:schemeClr val="accent6"/>
                </a:solidFill>
              </a:rPr>
              <a:t>Aniket Dubey   ·   Raju Kumar</a:t>
            </a:r>
            <a:endParaRPr lang="en-US" sz="1500" dirty="0"/>
          </a:p>
        </p:txBody>
      </p:sp>
      <p:sp>
        <p:nvSpPr>
          <p:cNvPr id="18" name="Shape 15"/>
          <p:cNvSpPr/>
          <p:nvPr/>
        </p:nvSpPr>
        <p:spPr>
          <a:xfrm>
            <a:off x="640080" y="4617720"/>
            <a:ext cx="1554480" cy="411480"/>
          </a:xfrm>
          <a:prstGeom prst="roundRect">
            <a:avLst>
              <a:gd name="adj" fmla="val 50000"/>
            </a:avLst>
          </a:prstGeom>
          <a:solidFill>
            <a:schemeClr val="accent2"/>
          </a:solidFill>
          <a:ln w="6350">
            <a:solidFill>
              <a:schemeClr val="accent2"/>
            </a:solidFill>
            <a:prstDash val="solid"/>
          </a:ln>
        </p:spPr>
      </p:sp>
      <p:sp>
        <p:nvSpPr>
          <p:cNvPr id="19" name="Text 16"/>
          <p:cNvSpPr txBox="1"/>
          <p:nvPr/>
        </p:nvSpPr>
        <p:spPr>
          <a:xfrm>
            <a:off x="640080" y="461772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Problem</a:t>
            </a:r>
            <a:endParaRPr lang="en-US" sz="1100" dirty="0"/>
          </a:p>
        </p:txBody>
      </p:sp>
      <p:sp>
        <p:nvSpPr>
          <p:cNvPr id="20" name="Shape 17"/>
          <p:cNvSpPr/>
          <p:nvPr/>
        </p:nvSpPr>
        <p:spPr>
          <a:xfrm>
            <a:off x="2331720" y="4617720"/>
            <a:ext cx="1554480" cy="411480"/>
          </a:xfrm>
          <a:prstGeom prst="roundRect">
            <a:avLst>
              <a:gd name="adj" fmla="val 50000"/>
            </a:avLst>
          </a:prstGeom>
          <a:solidFill>
            <a:schemeClr val="accent2"/>
          </a:solidFill>
          <a:ln w="6350">
            <a:solidFill>
              <a:schemeClr val="accent2"/>
            </a:solidFill>
            <a:prstDash val="solid"/>
          </a:ln>
        </p:spPr>
      </p:sp>
      <p:sp>
        <p:nvSpPr>
          <p:cNvPr id="21" name="Text 18"/>
          <p:cNvSpPr txBox="1"/>
          <p:nvPr/>
        </p:nvSpPr>
        <p:spPr>
          <a:xfrm>
            <a:off x="2331720" y="461772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Solution</a:t>
            </a:r>
            <a:endParaRPr lang="en-US" sz="1100" dirty="0"/>
          </a:p>
        </p:txBody>
      </p:sp>
      <p:sp>
        <p:nvSpPr>
          <p:cNvPr id="22" name="Shape 19"/>
          <p:cNvSpPr/>
          <p:nvPr/>
        </p:nvSpPr>
        <p:spPr>
          <a:xfrm>
            <a:off x="4023360" y="4617720"/>
            <a:ext cx="1554480" cy="411480"/>
          </a:xfrm>
          <a:prstGeom prst="roundRect">
            <a:avLst>
              <a:gd name="adj" fmla="val 50000"/>
            </a:avLst>
          </a:prstGeom>
          <a:solidFill>
            <a:schemeClr val="accent2"/>
          </a:solidFill>
          <a:ln w="6350">
            <a:solidFill>
              <a:schemeClr val="accent2"/>
            </a:solidFill>
            <a:prstDash val="solid"/>
          </a:ln>
        </p:spPr>
      </p:sp>
      <p:sp>
        <p:nvSpPr>
          <p:cNvPr id="23" name="Text 20"/>
          <p:cNvSpPr txBox="1"/>
          <p:nvPr/>
        </p:nvSpPr>
        <p:spPr>
          <a:xfrm>
            <a:off x="4023360" y="461772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Value</a:t>
            </a:r>
            <a:endParaRPr lang="en-US" sz="1100" dirty="0"/>
          </a:p>
        </p:txBody>
      </p:sp>
      <p:sp>
        <p:nvSpPr>
          <p:cNvPr id="24" name="Shape 21"/>
          <p:cNvSpPr/>
          <p:nvPr/>
        </p:nvSpPr>
        <p:spPr>
          <a:xfrm>
            <a:off x="5715000" y="4617720"/>
            <a:ext cx="1554480" cy="411480"/>
          </a:xfrm>
          <a:prstGeom prst="roundRect">
            <a:avLst>
              <a:gd name="adj" fmla="val 50000"/>
            </a:avLst>
          </a:prstGeom>
          <a:solidFill>
            <a:schemeClr val="accent2"/>
          </a:solidFill>
          <a:ln w="6350">
            <a:solidFill>
              <a:schemeClr val="accent2"/>
            </a:solidFill>
            <a:prstDash val="solid"/>
          </a:ln>
        </p:spPr>
      </p:sp>
      <p:sp>
        <p:nvSpPr>
          <p:cNvPr id="25" name="Text 22"/>
          <p:cNvSpPr txBox="1"/>
          <p:nvPr/>
        </p:nvSpPr>
        <p:spPr>
          <a:xfrm>
            <a:off x="5715000" y="461772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Competitors</a:t>
            </a:r>
            <a:endParaRPr lang="en-US" sz="1100" dirty="0"/>
          </a:p>
        </p:txBody>
      </p:sp>
      <p:sp>
        <p:nvSpPr>
          <p:cNvPr id="26" name="Shape 23"/>
          <p:cNvSpPr/>
          <p:nvPr/>
        </p:nvSpPr>
        <p:spPr>
          <a:xfrm>
            <a:off x="640080" y="5166360"/>
            <a:ext cx="1554480" cy="411480"/>
          </a:xfrm>
          <a:prstGeom prst="roundRect">
            <a:avLst>
              <a:gd name="adj" fmla="val 50000"/>
            </a:avLst>
          </a:prstGeom>
          <a:solidFill>
            <a:schemeClr val="accent2"/>
          </a:solidFill>
          <a:ln w="6350">
            <a:solidFill>
              <a:schemeClr val="accent2"/>
            </a:solidFill>
            <a:prstDash val="solid"/>
          </a:ln>
        </p:spPr>
      </p:sp>
      <p:sp>
        <p:nvSpPr>
          <p:cNvPr id="27" name="Text 24"/>
          <p:cNvSpPr txBox="1"/>
          <p:nvPr/>
        </p:nvSpPr>
        <p:spPr>
          <a:xfrm>
            <a:off x="640080" y="516636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Market</a:t>
            </a:r>
            <a:endParaRPr lang="en-US" sz="1100" dirty="0"/>
          </a:p>
        </p:txBody>
      </p:sp>
      <p:sp>
        <p:nvSpPr>
          <p:cNvPr id="28" name="Shape 25"/>
          <p:cNvSpPr/>
          <p:nvPr/>
        </p:nvSpPr>
        <p:spPr>
          <a:xfrm>
            <a:off x="2331720" y="5166360"/>
            <a:ext cx="1554480" cy="411480"/>
          </a:xfrm>
          <a:prstGeom prst="roundRect">
            <a:avLst>
              <a:gd name="adj" fmla="val 50000"/>
            </a:avLst>
          </a:prstGeom>
          <a:solidFill>
            <a:schemeClr val="accent2"/>
          </a:solidFill>
          <a:ln w="6350">
            <a:solidFill>
              <a:schemeClr val="accent2"/>
            </a:solidFill>
            <a:prstDash val="solid"/>
          </a:ln>
        </p:spPr>
      </p:sp>
      <p:sp>
        <p:nvSpPr>
          <p:cNvPr id="29" name="Text 26"/>
          <p:cNvSpPr txBox="1"/>
          <p:nvPr/>
        </p:nvSpPr>
        <p:spPr>
          <a:xfrm>
            <a:off x="2331720" y="516636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Model</a:t>
            </a:r>
            <a:endParaRPr lang="en-US" sz="1100" dirty="0"/>
          </a:p>
        </p:txBody>
      </p:sp>
      <p:sp>
        <p:nvSpPr>
          <p:cNvPr id="30" name="Shape 27"/>
          <p:cNvSpPr/>
          <p:nvPr/>
        </p:nvSpPr>
        <p:spPr>
          <a:xfrm>
            <a:off x="4023360" y="5166360"/>
            <a:ext cx="1554480" cy="411480"/>
          </a:xfrm>
          <a:prstGeom prst="roundRect">
            <a:avLst>
              <a:gd name="adj" fmla="val 50000"/>
            </a:avLst>
          </a:prstGeom>
          <a:solidFill>
            <a:schemeClr val="accent2"/>
          </a:solidFill>
          <a:ln w="6350">
            <a:solidFill>
              <a:schemeClr val="accent2"/>
            </a:solidFill>
            <a:prstDash val="solid"/>
          </a:ln>
        </p:spPr>
      </p:sp>
      <p:sp>
        <p:nvSpPr>
          <p:cNvPr id="31" name="Text 28"/>
          <p:cNvSpPr txBox="1"/>
          <p:nvPr/>
        </p:nvSpPr>
        <p:spPr>
          <a:xfrm>
            <a:off x="4023360" y="5166360"/>
            <a:ext cx="1554480" cy="411480"/>
          </a:xfrm>
          <a:prstGeom prst="rect">
            <a:avLst/>
          </a:prstGeom>
          <a:noFill/>
          <a:ln/>
        </p:spPr>
        <p:txBody>
          <a:bodyPr wrap="square" lIns="0" tIns="0" rIns="0" bIns="0" rtlCol="0" anchor="ctr"/>
          <a:lstStyle/>
          <a:p>
            <a:pPr algn="ctr" indent="0" marL="0">
              <a:buNone/>
            </a:pPr>
            <a:r>
              <a:rPr lang="en-US" sz="1100" b="1" dirty="0">
                <a:solidFill>
                  <a:schemeClr val="accent1"/>
                </a:solidFill>
              </a:rPr>
              <a:t>Ask</a:t>
            </a:r>
            <a:endParaRPr lang="en-US" sz="1100" dirty="0"/>
          </a:p>
        </p:txBody>
      </p:sp>
      <p:sp>
        <p:nvSpPr>
          <p:cNvPr id="32" name="Shape 29"/>
          <p:cNvSpPr/>
          <p:nvPr/>
        </p:nvSpPr>
        <p:spPr>
          <a:xfrm>
            <a:off x="640080" y="5943600"/>
            <a:ext cx="36576" cy="594360"/>
          </a:xfrm>
          <a:prstGeom prst="rect">
            <a:avLst/>
          </a:prstGeom>
          <a:solidFill>
            <a:schemeClr val="accent1"/>
          </a:solidFill>
          <a:ln w="12700">
            <a:solidFill>
              <a:schemeClr val="accent1"/>
            </a:solidFill>
            <a:prstDash val="solid"/>
          </a:ln>
        </p:spPr>
      </p:sp>
      <p:sp>
        <p:nvSpPr>
          <p:cNvPr id="33" name="Shape 30"/>
          <p:cNvSpPr/>
          <p:nvPr/>
        </p:nvSpPr>
        <p:spPr>
          <a:xfrm>
            <a:off x="868680" y="5989320"/>
            <a:ext cx="502920" cy="502920"/>
          </a:xfrm>
          <a:prstGeom prst="roundRect">
            <a:avLst>
              <a:gd name="adj" fmla="val 28000"/>
            </a:avLst>
          </a:prstGeom>
          <a:solidFill>
            <a:schemeClr val="accent1"/>
          </a:solidFill>
          <a:ln w="6350">
            <a:solidFill>
              <a:schemeClr val="accent1"/>
            </a:solidFill>
            <a:prstDash val="solid"/>
          </a:ln>
        </p:spPr>
      </p:sp>
      <p:sp>
        <p:nvSpPr>
          <p:cNvPr id="34" name="Text 31"/>
          <p:cNvSpPr txBox="1"/>
          <p:nvPr/>
        </p:nvSpPr>
        <p:spPr>
          <a:xfrm>
            <a:off x="868680" y="598932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JetBrains Mono" pitchFamily="34" charset="0"/>
                <a:ea typeface="JetBrains Mono" pitchFamily="34" charset="-122"/>
                <a:cs typeface="JetBrains Mono" pitchFamily="34" charset="-120"/>
              </a:rPr>
              <a:t>FD</a:t>
            </a:r>
            <a:endParaRPr lang="en-US" sz="1400" dirty="0"/>
          </a:p>
        </p:txBody>
      </p:sp>
      <p:sp>
        <p:nvSpPr>
          <p:cNvPr id="35" name="Shape 32"/>
          <p:cNvSpPr/>
          <p:nvPr/>
        </p:nvSpPr>
        <p:spPr>
          <a:xfrm>
            <a:off x="1691640" y="5943600"/>
            <a:ext cx="0" cy="594360"/>
          </a:xfrm>
          <a:prstGeom prst="line">
            <a:avLst/>
          </a:prstGeom>
          <a:noFill/>
          <a:ln w="12700">
            <a:solidFill>
              <a:srgbClr val="BFD0DE"/>
            </a:solidFill>
            <a:prstDash val="solid"/>
          </a:ln>
        </p:spPr>
      </p:sp>
      <p:sp>
        <p:nvSpPr>
          <p:cNvPr id="36" name="Text 33"/>
          <p:cNvSpPr txBox="1"/>
          <p:nvPr/>
        </p:nvSpPr>
        <p:spPr>
          <a:xfrm>
            <a:off x="1874520" y="5943600"/>
            <a:ext cx="8229600" cy="594360"/>
          </a:xfrm>
          <a:prstGeom prst="rect">
            <a:avLst/>
          </a:prstGeom>
          <a:noFill/>
          <a:ln/>
        </p:spPr>
        <p:txBody>
          <a:bodyPr wrap="square" lIns="0" tIns="0" rIns="0" bIns="0" rtlCol="0" anchor="ctr"/>
          <a:lstStyle/>
          <a:p>
            <a:pPr indent="0" marL="0">
              <a:buNone/>
            </a:pPr>
            <a:r>
              <a:rPr lang="en-US" sz="1500" b="1" dirty="0">
                <a:solidFill>
                  <a:schemeClr val="tx2"/>
                </a:solidFill>
              </a:rPr>
              <a:t>Start strong. Speak clearly.</a:t>
            </a:r>
            <a:endParaRPr lang="en-US" sz="1500" dirty="0"/>
          </a:p>
          <a:p>
            <a:pPr indent="0" marL="0">
              <a:buNone/>
            </a:pPr>
            <a:r>
              <a:rPr lang="en-US" sz="1500" b="1" dirty="0">
                <a:solidFill>
                  <a:schemeClr val="accent1"/>
                </a:solidFill>
              </a:rPr>
              <a:t>End with a memorable message.</a:t>
            </a:r>
            <a:endParaRPr lang="en-US" sz="1500" dirty="0"/>
          </a:p>
        </p:txBody>
      </p:sp>
      <p:sp>
        <p:nvSpPr>
          <p:cNvPr id="37" name="Text 0"/>
          <p:cNvSpPr/>
          <p:nvPr>
            <p:ph idx="100" type="title" hasCustomPrompt="1"/>
          </p:nvPr>
        </p:nvSpPr>
        <p:spPr>
          <a:xfrm>
            <a:off x="640080" y="566928"/>
            <a:ext cx="10908792" cy="914400"/>
          </a:xfrm>
          <a:prstGeom prst="rect">
            <a:avLst/>
          </a:prstGeom>
          <a:noFill/>
          <a:ln/>
        </p:spPr>
        <p:txBody>
          <a:bodyPr wrap="square" lIns="0" tIns="0" rIns="0" bIns="0" rtlCol="0" anchor="t"/>
          <a:lstStyle/>
          <a:p>
            <a:pPr indent="0" marL="0">
              <a:buNone/>
            </a:pPr>
            <a:endParaRPr lang="en-US" sz="2800" dirty="0"/>
          </a:p>
        </p:txBody>
      </p:sp>
      <p:sp>
        <p:nvSpPr>
          <p:cNvPr id="25" name="Slide Number Placeholder 0"/>
          <p:cNvSpPr>
            <a:spLocks noGrp="1"/>
          </p:cNvSpPr>
          <p:nvPr>
            <p:ph type="sldNum" sz="quarter" idx="4294967295"/>
          </p:nvPr>
        </p:nvSpPr>
        <p:spPr>
          <a:xfrm>
            <a:off x="1106424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7189"/>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Care Relay Teal">
  <a:themeElements>
    <a:clrScheme name="Care Relay Teal">
      <a:dk1>
        <a:srgbClr val="1F3A5F"/>
      </a:dk1>
      <a:lt1>
        <a:srgbClr val="FFFFFF"/>
      </a:lt1>
      <a:dk2>
        <a:srgbClr val="0B3B73"/>
      </a:dk2>
      <a:lt2>
        <a:srgbClr val="F6FAFC"/>
      </a:lt2>
      <a:accent1>
        <a:srgbClr val="0E9F9A"/>
      </a:accent1>
      <a:accent2>
        <a:srgbClr val="E3F4F4"/>
      </a:accent2>
      <a:accent3>
        <a:srgbClr val="B42318"/>
      </a:accent3>
      <a:accent4>
        <a:srgbClr val="B45309"/>
      </a:accent4>
      <a:accent5>
        <a:srgbClr val="047857"/>
      </a:accent5>
      <a:accent6>
        <a:srgbClr val="5B7189"/>
      </a:accent6>
      <a:hlink>
        <a:srgbClr val="0E9F9A"/>
      </a:hlink>
      <a:folHlink>
        <a:srgbClr val="5B7189"/>
      </a:folHlink>
    </a:clrScheme>
    <a:fontScheme name="Care Relay Teal">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Detection System for Online Transactions</dc:title>
  <dc:subject>PptxGenJS Presentation</dc:subject>
  <dc:creator>Aniket Dubey &amp; Raju Kumar</dc:creator>
  <cp:lastModifiedBy>Aniket Dubey &amp; Raju Kumar</cp:lastModifiedBy>
  <cp:revision>1</cp:revision>
  <dcterms:created xsi:type="dcterms:W3CDTF">2026-10-22T19:31:06Z</dcterms:created>
  <dcterms:modified xsi:type="dcterms:W3CDTF">2026-10-22T19:31:06Z</dcterms:modified>
</cp:coreProperties>
</file>